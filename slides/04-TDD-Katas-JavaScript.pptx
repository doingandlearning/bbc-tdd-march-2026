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67"/>
  </p:notesMasterIdLst>
  <p:handoutMasterIdLst>
    <p:handoutMasterId r:id="rId68"/>
  </p:handoutMasterIdLst>
  <p:sldIdLst>
    <p:sldId id="256" r:id="rId3"/>
    <p:sldId id="327" r:id="rId4"/>
    <p:sldId id="320" r:id="rId5"/>
    <p:sldId id="374" r:id="rId6"/>
    <p:sldId id="329" r:id="rId7"/>
    <p:sldId id="257" r:id="rId8"/>
    <p:sldId id="258" r:id="rId9"/>
    <p:sldId id="259" r:id="rId10"/>
    <p:sldId id="261" r:id="rId11"/>
    <p:sldId id="262" r:id="rId12"/>
    <p:sldId id="328" r:id="rId13"/>
    <p:sldId id="264" r:id="rId14"/>
    <p:sldId id="265" r:id="rId15"/>
    <p:sldId id="393" r:id="rId16"/>
    <p:sldId id="266" r:id="rId17"/>
    <p:sldId id="392" r:id="rId18"/>
    <p:sldId id="397" r:id="rId19"/>
    <p:sldId id="268" r:id="rId20"/>
    <p:sldId id="395" r:id="rId21"/>
    <p:sldId id="330" r:id="rId22"/>
    <p:sldId id="333" r:id="rId23"/>
    <p:sldId id="334" r:id="rId24"/>
    <p:sldId id="279" r:id="rId25"/>
    <p:sldId id="336" r:id="rId26"/>
    <p:sldId id="337" r:id="rId27"/>
    <p:sldId id="396" r:id="rId28"/>
    <p:sldId id="335" r:id="rId29"/>
    <p:sldId id="338" r:id="rId30"/>
    <p:sldId id="398" r:id="rId31"/>
    <p:sldId id="340" r:id="rId32"/>
    <p:sldId id="339" r:id="rId33"/>
    <p:sldId id="341" r:id="rId34"/>
    <p:sldId id="342" r:id="rId35"/>
    <p:sldId id="343" r:id="rId36"/>
    <p:sldId id="345" r:id="rId37"/>
    <p:sldId id="346" r:id="rId38"/>
    <p:sldId id="347" r:id="rId39"/>
    <p:sldId id="349" r:id="rId40"/>
    <p:sldId id="350" r:id="rId41"/>
    <p:sldId id="351" r:id="rId42"/>
    <p:sldId id="352" r:id="rId43"/>
    <p:sldId id="353" r:id="rId44"/>
    <p:sldId id="354" r:id="rId45"/>
    <p:sldId id="391" r:id="rId46"/>
    <p:sldId id="355" r:id="rId47"/>
    <p:sldId id="356" r:id="rId48"/>
    <p:sldId id="359" r:id="rId49"/>
    <p:sldId id="360" r:id="rId50"/>
    <p:sldId id="361" r:id="rId51"/>
    <p:sldId id="362" r:id="rId52"/>
    <p:sldId id="363" r:id="rId53"/>
    <p:sldId id="364" r:id="rId54"/>
    <p:sldId id="365" r:id="rId55"/>
    <p:sldId id="366" r:id="rId56"/>
    <p:sldId id="367" r:id="rId57"/>
    <p:sldId id="368" r:id="rId58"/>
    <p:sldId id="369" r:id="rId59"/>
    <p:sldId id="370" r:id="rId60"/>
    <p:sldId id="371" r:id="rId61"/>
    <p:sldId id="372" r:id="rId62"/>
    <p:sldId id="390" r:id="rId63"/>
    <p:sldId id="321" r:id="rId64"/>
    <p:sldId id="373" r:id="rId65"/>
    <p:sldId id="263" r:id="rId66"/>
  </p:sldIdLst>
  <p:sldSz cx="9906000" cy="6858000" type="A4"/>
  <p:notesSz cx="7086600" cy="10221913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1pPr>
    <a:lvl2pPr marL="4572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2pPr>
    <a:lvl3pPr marL="9144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3pPr>
    <a:lvl4pPr marL="1371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4pPr>
    <a:lvl5pPr marL="18288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0">
          <p15:clr>
            <a:srgbClr val="A4A3A4"/>
          </p15:clr>
        </p15:guide>
        <p15:guide id="2" pos="223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8C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4000" autoAdjust="0"/>
    <p:restoredTop sz="86297" autoAdjust="0"/>
  </p:normalViewPr>
  <p:slideViewPr>
    <p:cSldViewPr>
      <p:cViewPr varScale="1">
        <p:scale>
          <a:sx n="53" d="100"/>
          <a:sy n="53" d="100"/>
        </p:scale>
        <p:origin x="176" y="191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-672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3220"/>
        <p:guide pos="223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4788" y="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algn="r"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3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0915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4788" y="970915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algn="r"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9CBFC2FC-AB15-4A86-A090-42EA9D9D81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174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1"/>
          <p:cNvSpPr>
            <a:spLocks noChangeArrowheads="1"/>
          </p:cNvSpPr>
          <p:nvPr/>
        </p:nvSpPr>
        <p:spPr bwMode="auto">
          <a:xfrm>
            <a:off x="0" y="0"/>
            <a:ext cx="7086600" cy="102219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06863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t" anchorCtr="0" compatLnSpc="1">
            <a:prstTxWarp prst="textNoShape">
              <a:avLst/>
            </a:prstTxWarp>
          </a:bodyPr>
          <a:lstStyle>
            <a:lvl1pPr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014788" y="0"/>
            <a:ext cx="306863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t" anchorCtr="0" compatLnSpc="1">
            <a:prstTxWarp prst="textNoShape">
              <a:avLst/>
            </a:prstTxWarp>
          </a:bodyPr>
          <a:lstStyle>
            <a:lvl1pPr algn="r"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173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776288" y="766763"/>
            <a:ext cx="5532437" cy="3830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708025" y="4856163"/>
            <a:ext cx="5668963" cy="459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0" y="9709150"/>
            <a:ext cx="306863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b" anchorCtr="0" compatLnSpc="1">
            <a:prstTxWarp prst="textNoShape">
              <a:avLst/>
            </a:prstTxWarp>
          </a:bodyPr>
          <a:lstStyle>
            <a:lvl1pPr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4014788" y="9709150"/>
            <a:ext cx="306863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b" anchorCtr="0" compatLnSpc="1">
            <a:prstTxWarp prst="textNoShape">
              <a:avLst/>
            </a:prstTxWarp>
          </a:bodyPr>
          <a:lstStyle>
            <a:lvl1pPr algn="r"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705325CD-D4D1-46AB-A07B-76CAD4A152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83296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4B24E597-641E-4831-92E7-FE32F3EB8DD0}" type="slidenum">
              <a:rPr lang="en-GB">
                <a:solidFill>
                  <a:srgbClr val="000000"/>
                </a:solidFill>
                <a:latin typeface="Times New Roman" pitchFamily="18" charset="0"/>
              </a:rPr>
              <a:pPr/>
              <a:t>1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195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4700" y="766763"/>
            <a:ext cx="5537200" cy="3833812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6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08025" y="4856163"/>
            <a:ext cx="5670550" cy="4598987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8902" tIns="49451" rIns="98902" bIns="49451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05325CD-D4D1-46AB-A07B-76CAD4A15258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431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DF9DA0-76FC-40C5-A9D1-15F02A1777AF}" type="slidenum">
              <a:rPr lang="en-US"/>
              <a:pPr/>
              <a:t>6</a:t>
            </a:fld>
            <a:endParaRPr lang="en-US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B91118-05D8-4434-892B-C50985AC624D}" type="slidenum">
              <a:rPr lang="en-US"/>
              <a:pPr/>
              <a:t>7</a:t>
            </a:fld>
            <a:endParaRPr lang="en-US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405F67-0179-4C51-8F26-51F53E8C5F53}" type="slidenum">
              <a:rPr lang="en-US"/>
              <a:pPr/>
              <a:t>8</a:t>
            </a:fld>
            <a:endParaRPr lang="en-US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A97EC9-8633-4110-B977-19799EFC6DA1}" type="slidenum">
              <a:rPr lang="en-US"/>
              <a:pPr/>
              <a:t>9</a:t>
            </a:fld>
            <a:endParaRPr lang="en-US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A34F23-6757-4460-BD62-CC1502A6CD2C}" type="slidenum">
              <a:rPr lang="en-US"/>
              <a:pPr/>
              <a:t>10</a:t>
            </a:fld>
            <a:endParaRPr lang="en-US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76FBD9-B70A-4028-B5CA-E8FD4A939606}" type="slidenum">
              <a:rPr lang="en-US"/>
              <a:pPr/>
              <a:t>11</a:t>
            </a:fld>
            <a:endParaRPr lang="en-US"/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46F692-9448-4F18-9850-E864EB702466}" type="slidenum">
              <a:rPr lang="en-US"/>
              <a:pPr/>
              <a:t>12</a:t>
            </a:fld>
            <a:endParaRPr lang="en-US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D8A19B-C366-4C6E-8A7F-D6EDC3375E81}" type="slidenum">
              <a:rPr lang="en-US"/>
              <a:pPr/>
              <a:t>13</a:t>
            </a:fld>
            <a:endParaRPr lang="en-US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F160AC-5A80-4DAE-8590-C97B491420D3}" type="slidenum">
              <a:rPr lang="en-US"/>
              <a:pPr/>
              <a:t>15</a:t>
            </a:fld>
            <a:endParaRPr lang="en-US"/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F160AC-5A80-4DAE-8590-C97B491420D3}" type="slidenum">
              <a:rPr lang="en-US"/>
              <a:pPr/>
              <a:t>16</a:t>
            </a:fld>
            <a:endParaRPr lang="en-US"/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0934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6FDAE-45AE-D205-DD77-D410E5C7F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EDB9F23-8DAD-CB38-9076-D69E85F64C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F160AC-5A80-4DAE-8590-C97B491420D3}" type="slidenum">
              <a:rPr lang="en-US"/>
              <a:pPr/>
              <a:t>17</a:t>
            </a:fld>
            <a:endParaRPr lang="en-US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F03B3E76-8C5A-52F8-89B6-59FFC72374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B02C0EC7-1994-2150-9332-B300FEA7F6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5069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0B91C2-7B43-494A-A880-96F81AD1AD4D}" type="slidenum">
              <a:rPr lang="en-US"/>
              <a:pPr/>
              <a:t>18</a:t>
            </a:fld>
            <a:endParaRPr lang="en-US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0B91C2-7B43-494A-A880-96F81AD1AD4D}" type="slidenum">
              <a:rPr lang="en-US"/>
              <a:pPr/>
              <a:t>20</a:t>
            </a:fld>
            <a:endParaRPr lang="en-US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6468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0B91C2-7B43-494A-A880-96F81AD1AD4D}" type="slidenum">
              <a:rPr lang="en-US"/>
              <a:pPr/>
              <a:t>21</a:t>
            </a:fld>
            <a:endParaRPr lang="en-US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3888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0B91C2-7B43-494A-A880-96F81AD1AD4D}" type="slidenum">
              <a:rPr lang="en-US"/>
              <a:pPr/>
              <a:t>22</a:t>
            </a:fld>
            <a:endParaRPr lang="en-US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2487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23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24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0478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25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8008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26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8789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27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3587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28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2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F4CFD-D509-FB27-364D-B8AAB33BA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6518990-A9CF-AEAE-0B6A-873EA771F8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29</a:t>
            </a:fld>
            <a:endParaRPr lang="en-US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BD82AD8F-77F5-3A0C-1067-6F2ADEADE3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2D403BB7-51C7-B572-C936-6D2F892C4F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0841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30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still works</a:t>
            </a:r>
          </a:p>
        </p:txBody>
      </p:sp>
    </p:spTree>
    <p:extLst>
      <p:ext uri="{BB962C8B-B14F-4D97-AF65-F5344CB8AC3E}">
        <p14:creationId xmlns:p14="http://schemas.microsoft.com/office/powerpoint/2010/main" val="30911902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31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762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32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919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33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5471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34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5354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35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92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36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6672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37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336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38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7170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39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7788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40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47676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41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3484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42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2023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43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62058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44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9208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45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2936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46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835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47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5847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48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2325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49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57852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50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06374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51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82924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52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39498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53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8913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54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910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55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672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56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83955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57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85507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58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731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DAA5FB-1A88-4438-BFBB-9BBB90E531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98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317CFC-9530-4DD8-A082-6933CE16E3A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156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8FDBB7-AE6C-44A4-9354-E420422B6D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530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73431" cy="4529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3831" y="1600200"/>
            <a:ext cx="4375150" cy="4529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891112-9BC8-4B82-B6DA-AD3952AEF2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265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2EFEF-B460-41E1-B380-21E0D72C12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086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55FF55-9A51-49BC-91F0-BC8E688F18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464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7ADF69-52E3-48D5-99E7-63105AE4C1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894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4FB47-FC34-470D-975D-818673632D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248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B56B33-355B-4F00-98F1-AAA0DA53B9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50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15734D-DD4C-4AFE-A48C-C042F044E4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612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7814"/>
            <a:ext cx="2227131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7814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8A648-AA13-472B-B8F8-A061FAD948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577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331D7C-3F02-481D-A2CB-CE756043E4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297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C999C5-CA01-4C37-9A77-0BC9D4DCC8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730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EECA9A-3BFE-4494-AE79-033AB3181B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933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4964"/>
            <a:ext cx="4373431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3831" y="1604964"/>
            <a:ext cx="4375150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055E91-4FFC-497B-9460-CB8D1F1E6E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5726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5E714-687B-490B-BC5F-848B0211A5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462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BA0F8F-584F-4FE6-8B99-D18FEFDE602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6565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DBC1AD-34F6-412E-A983-7210815D51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9051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BC6ED-34ED-4D17-86C5-68EFDB043C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2688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B58291-C605-4591-98C4-EA212E3823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596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F961CE-61F8-4BC5-8BB3-B0A0F0B4CA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1860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685800"/>
            <a:ext cx="2227131" cy="54435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685800"/>
            <a:ext cx="6521450" cy="54435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37626-AC2C-4FBA-AD1A-B46461F8D7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1562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685801"/>
            <a:ext cx="8418381" cy="21256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D173BD-EAA9-43F3-A181-9BB25AB1E9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7183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7814"/>
            <a:ext cx="8913681" cy="1138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3681" cy="4529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  <a:p>
            <a:pPr lvl="4"/>
            <a:r>
              <a:rPr lang="en-GB"/>
              <a:t>Eighth Outline Level</a:t>
            </a:r>
          </a:p>
          <a:p>
            <a:pPr lvl="4"/>
            <a:r>
              <a:rPr lang="en-GB"/>
              <a:t>Ninth Outline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28229" y="6524626"/>
            <a:ext cx="230968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393149" y="6524626"/>
            <a:ext cx="313518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7137136" y="6524626"/>
            <a:ext cx="2309681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fld id="{D170E260-D032-4AF5-A4B0-E2382247C2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31" name="Rectangle 6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2" name="Line 7"/>
          <p:cNvSpPr>
            <a:spLocks noChangeShapeType="1"/>
          </p:cNvSpPr>
          <p:nvPr/>
        </p:nvSpPr>
        <p:spPr bwMode="auto">
          <a:xfrm>
            <a:off x="495300" y="1447800"/>
            <a:ext cx="8750300" cy="1588"/>
          </a:xfrm>
          <a:prstGeom prst="line">
            <a:avLst/>
          </a:prstGeom>
          <a:noFill/>
          <a:ln w="19080">
            <a:solidFill>
              <a:srgbClr val="00008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3" name="Rectangle 8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" name="Rectangle 9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5pPr>
      <a:lvl6pPr marL="4572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6pPr>
      <a:lvl7pPr marL="9144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7pPr>
      <a:lvl8pPr marL="13716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8pPr>
      <a:lvl9pPr marL="18288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9pPr>
    </p:titleStyle>
    <p:bodyStyle>
      <a:lvl1pPr marL="341313" indent="-341313" algn="l" defTabSz="449263" rtl="0" eaLnBrk="0" fontAlgn="base" hangingPunct="0">
        <a:lnSpc>
          <a:spcPct val="125000"/>
        </a:lnSpc>
        <a:spcBef>
          <a:spcPts val="7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"/>
        <a:defRPr sz="2800">
          <a:solidFill>
            <a:srgbClr val="000000"/>
          </a:solidFill>
          <a:latin typeface="+mn-lt"/>
          <a:ea typeface="+mn-ea"/>
          <a:cs typeface="+mn-cs"/>
        </a:defRPr>
      </a:lvl1pPr>
      <a:lvl2pPr marL="741363" indent="-284163" algn="l" defTabSz="449263" rtl="0" eaLnBrk="0" fontAlgn="base" hangingPunct="0">
        <a:lnSpc>
          <a:spcPct val="115000"/>
        </a:lnSpc>
        <a:spcBef>
          <a:spcPts val="6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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15000"/>
        </a:lnSpc>
        <a:spcBef>
          <a:spcPts val="500"/>
        </a:spcBef>
        <a:spcAft>
          <a:spcPct val="0"/>
        </a:spcAft>
        <a:buClr>
          <a:srgbClr val="00CCFF"/>
        </a:buClr>
        <a:buSzPct val="65000"/>
        <a:buFont typeface="Wingdings" pitchFamily="2" charset="2"/>
        <a:buChar char=""/>
        <a:defRPr sz="20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10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742950" y="685801"/>
            <a:ext cx="8418381" cy="212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dt"/>
          </p:nvPr>
        </p:nvSpPr>
        <p:spPr bwMode="auto">
          <a:xfrm>
            <a:off x="495300" y="6248401"/>
            <a:ext cx="2309681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>
              <a:buFont typeface="Verdana" pitchFamily="34" charset="0"/>
              <a:buNone/>
              <a:tabLst>
                <a:tab pos="723900" algn="l"/>
                <a:tab pos="14478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ftr"/>
          </p:nvPr>
        </p:nvSpPr>
        <p:spPr bwMode="auto">
          <a:xfrm>
            <a:off x="3384550" y="6248401"/>
            <a:ext cx="3135181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 eaLnBrk="1">
              <a:buFont typeface="Verdana" pitchFamily="34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ldNum"/>
          </p:nvPr>
        </p:nvSpPr>
        <p:spPr bwMode="auto">
          <a:xfrm>
            <a:off x="7099300" y="6248401"/>
            <a:ext cx="2309681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>
              <a:buFont typeface="Verdana" pitchFamily="34" charset="0"/>
              <a:buNone/>
              <a:tabLst>
                <a:tab pos="723900" algn="l"/>
                <a:tab pos="14478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fld id="{EBBAEC79-F64B-4999-8F10-F75F3E166C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aphicFrame>
        <p:nvGraphicFramePr>
          <p:cNvPr id="2054" name="Object 5"/>
          <p:cNvGraphicFramePr>
            <a:graphicFrameLocks noChangeAspect="1"/>
          </p:cNvGraphicFramePr>
          <p:nvPr/>
        </p:nvGraphicFramePr>
        <p:xfrm>
          <a:off x="271728" y="2924176"/>
          <a:ext cx="9283435" cy="19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7591552" imgH="391770" progId="">
                  <p:embed/>
                </p:oleObj>
              </mc:Choice>
              <mc:Fallback>
                <p:oleObj r:id="rId14" imgW="7591552" imgH="39177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28" y="2924176"/>
                        <a:ext cx="9283435" cy="19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5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4964"/>
            <a:ext cx="8913681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  <a:p>
            <a:pPr lvl="4"/>
            <a:r>
              <a:rPr lang="en-GB"/>
              <a:t>Eighth Outline Level</a:t>
            </a:r>
          </a:p>
          <a:p>
            <a:pPr lvl="4"/>
            <a:r>
              <a:rPr lang="en-GB"/>
              <a:t>Ninth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5pPr>
      <a:lvl6pPr marL="4572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6pPr>
      <a:lvl7pPr marL="9144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7pPr>
      <a:lvl8pPr marL="13716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8pPr>
      <a:lvl9pPr marL="18288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9pPr>
    </p:titleStyle>
    <p:bodyStyle>
      <a:lvl1pPr marL="341313" indent="-341313" algn="l" defTabSz="449263" rtl="0" eaLnBrk="0" fontAlgn="base" hangingPunct="0">
        <a:lnSpc>
          <a:spcPct val="125000"/>
        </a:lnSpc>
        <a:spcBef>
          <a:spcPts val="7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"/>
        <a:defRPr sz="2800">
          <a:solidFill>
            <a:srgbClr val="000000"/>
          </a:solidFill>
          <a:latin typeface="+mn-lt"/>
          <a:ea typeface="+mn-ea"/>
          <a:cs typeface="+mn-cs"/>
        </a:defRPr>
      </a:lvl1pPr>
      <a:lvl2pPr marL="741363" indent="-284163" algn="l" defTabSz="449263" rtl="0" eaLnBrk="0" fontAlgn="base" hangingPunct="0">
        <a:lnSpc>
          <a:spcPct val="115000"/>
        </a:lnSpc>
        <a:spcBef>
          <a:spcPts val="6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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15000"/>
        </a:lnSpc>
        <a:spcBef>
          <a:spcPts val="500"/>
        </a:spcBef>
        <a:spcAft>
          <a:spcPct val="0"/>
        </a:spcAft>
        <a:buClr>
          <a:srgbClr val="00CCFF"/>
        </a:buClr>
        <a:buSzPct val="65000"/>
        <a:buFont typeface="Wingdings" pitchFamily="2" charset="2"/>
        <a:buChar char=""/>
        <a:defRPr sz="20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10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3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4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5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6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7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ohnehunt/Bowling-Ball-Kata" TargetMode="External"/><Relationship Id="rId2" Type="http://schemas.openxmlformats.org/officeDocument/2006/relationships/hyperlink" Target="https://github.com/johnehunt/Bowling-ball-kata-J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kata-log.rocks/tdd" TargetMode="External"/><Relationship Id="rId2" Type="http://schemas.openxmlformats.org/officeDocument/2006/relationships/hyperlink" Target="http://butunclebob.com/ArticleS.UncleBob.TheBowlingGameKata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://www.tddbuddy.com/" TargetMode="External"/><Relationship Id="rId4" Type="http://schemas.openxmlformats.org/officeDocument/2006/relationships/hyperlink" Target="https://www.programmingwithwolfgang.com/tdd-kata/" TargetMode="Externa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KatherynRizek/golang-bowling-kata" TargetMode="External"/><Relationship Id="rId3" Type="http://schemas.openxmlformats.org/officeDocument/2006/relationships/hyperlink" Target="https://medium.com/geekculture/solving-the-bowling-game-kata-in-vanilla-javascript-37e25d6d2305" TargetMode="External"/><Relationship Id="rId7" Type="http://schemas.openxmlformats.org/officeDocument/2006/relationships/hyperlink" Target="https://dzone.com/articles/bowling-kata-in-kotlin-videov" TargetMode="External"/><Relationship Id="rId2" Type="http://schemas.openxmlformats.org/officeDocument/2006/relationships/hyperlink" Target="http://www.butunclebob.com/ArticleS.UncleBob.TheBowlingGameKat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brickghost/Bowling-Ball-Kata-Swift" TargetMode="External"/><Relationship Id="rId5" Type="http://schemas.openxmlformats.org/officeDocument/2006/relationships/hyperlink" Target="https://www.codurance.com/publications/2016/05/16/bowling-kata-in-clojure-fsharp-scala" TargetMode="External"/><Relationship Id="rId4" Type="http://schemas.openxmlformats.org/officeDocument/2006/relationships/hyperlink" Target="https://github.com/FranksBrain/BowlingKata" TargetMode="External"/><Relationship Id="rId9" Type="http://schemas.openxmlformats.org/officeDocument/2006/relationships/image" Target="../media/image6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DB317A-B09E-4609-B950-7F75FB78108D}" type="slidenum">
              <a:rPr lang="en-GB"/>
              <a:pPr>
                <a:defRPr/>
              </a:pPr>
              <a:t>1</a:t>
            </a:fld>
            <a:endParaRPr lang="en-GB"/>
          </a:p>
        </p:txBody>
      </p:sp>
      <p:sp>
        <p:nvSpPr>
          <p:cNvPr id="3075" name="Rectangle 1"/>
          <p:cNvSpPr>
            <a:spLocks noGrp="1" noChangeArrowheads="1"/>
          </p:cNvSpPr>
          <p:nvPr>
            <p:ph type="title"/>
          </p:nvPr>
        </p:nvSpPr>
        <p:spPr>
          <a:xfrm>
            <a:off x="704851" y="692150"/>
            <a:ext cx="8424863" cy="2127250"/>
          </a:xfrm>
        </p:spPr>
        <p:txBody>
          <a:bodyPr/>
          <a:lstStyle/>
          <a:p>
            <a:pPr algn="ctr"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TDD Kata</a:t>
            </a:r>
            <a:br>
              <a:rPr lang="en-GB"/>
            </a:br>
            <a:r>
              <a:rPr lang="en-GB"/>
              <a:t>Bowling Ball Kata</a:t>
            </a:r>
            <a:br>
              <a:rPr lang="en-GB" dirty="0"/>
            </a:br>
            <a:r>
              <a:rPr lang="en-GB" dirty="0"/>
              <a:t>(</a:t>
            </a:r>
            <a:r>
              <a:rPr lang="en-GB"/>
              <a:t>JavaScript Version)</a:t>
            </a:r>
            <a:endParaRPr lang="en-GB" dirty="0"/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1752600" y="3270250"/>
            <a:ext cx="6400800" cy="2209800"/>
          </a:xfrm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ts val="7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000" dirty="0"/>
              <a:t>Kevin Cunningham</a:t>
            </a:r>
          </a:p>
          <a:p>
            <a:pPr marL="0" indent="0" algn="ctr" eaLnBrk="1" hangingPunct="1">
              <a:spcBef>
                <a:spcPts val="7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3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3297B-A3AD-894C-ABA5-CC60C83D6B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131CDB-74C2-064B-9CA1-3895C1ECE9B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BFA2D1-81D0-F447-A61F-EC2EB38709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467" y="4716518"/>
            <a:ext cx="2046514" cy="11477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79E693-FA4E-F946-A189-48B473C223DE}"/>
              </a:ext>
            </a:extLst>
          </p:cNvPr>
          <p:cNvSpPr txBox="1"/>
          <p:nvPr/>
        </p:nvSpPr>
        <p:spPr>
          <a:xfrm>
            <a:off x="518620" y="5290371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T</a:t>
            </a:r>
            <a:r>
              <a:rPr lang="en-US" sz="2800" b="1" dirty="0">
                <a:solidFill>
                  <a:srgbClr val="C00000"/>
                </a:solidFill>
              </a:rPr>
              <a:t>D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</a:p>
        </p:txBody>
      </p:sp>
      <p:pic>
        <p:nvPicPr>
          <p:cNvPr id="12290" name="Picture 2" descr="TDD入门首选，Bowling Kata - 简书">
            <a:extLst>
              <a:ext uri="{FF2B5EF4-FFF2-40B4-BE49-F238E27FC236}">
                <a16:creationId xmlns:a16="http://schemas.microsoft.com/office/drawing/2014/main" id="{3B7AF488-9AE9-2C4B-BB28-424A4D1AF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9735" y="4629971"/>
            <a:ext cx="1984809" cy="132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 for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What is a TDD Kata?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Typical Kata Sequence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Bowling Game Kata as an example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Scoring Bowling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What is required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 Quick Design Session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Getting Started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Writing the tests and refactoring the design / implementation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TDD Kata Resources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50A77-6650-AB4C-8AE3-A76AD49315C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AA33B-6FBC-5A4F-A217-54FB115C8A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F82391-0B65-3D45-83B8-9D3479DF0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344" y="267460"/>
            <a:ext cx="1099840" cy="1099840"/>
          </a:xfrm>
          <a:prstGeom prst="rect">
            <a:avLst/>
          </a:prstGeom>
        </p:spPr>
      </p:pic>
      <p:pic>
        <p:nvPicPr>
          <p:cNvPr id="3074" name="Picture 2" descr="Awesome Katas">
            <a:extLst>
              <a:ext uri="{FF2B5EF4-FFF2-40B4-BE49-F238E27FC236}">
                <a16:creationId xmlns:a16="http://schemas.microsoft.com/office/drawing/2014/main" id="{2284022B-2D93-4041-98A3-85F6CE16D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581" y="3645024"/>
            <a:ext cx="3960440" cy="1489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7561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dirty="0"/>
              <a:t>What is a TDD Kata?</a:t>
            </a: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95300" y="1484784"/>
            <a:ext cx="8913681" cy="4529138"/>
          </a:xfrm>
          <a:ln/>
        </p:spPr>
        <p:txBody>
          <a:bodyPr/>
          <a:lstStyle/>
          <a:p>
            <a:r>
              <a:rPr lang="en-US" sz="2400" dirty="0"/>
              <a:t>A way of learning / enhancing TDD skills</a:t>
            </a:r>
          </a:p>
          <a:p>
            <a:r>
              <a:rPr lang="en-US" sz="2400" dirty="0"/>
              <a:t>Many Katas available</a:t>
            </a:r>
          </a:p>
          <a:p>
            <a:r>
              <a:rPr lang="en-US" sz="2400" dirty="0"/>
              <a:t>Strengthens your TDD skills through repetition</a:t>
            </a:r>
          </a:p>
          <a:p>
            <a:r>
              <a:rPr lang="en-US" sz="2400" dirty="0"/>
              <a:t>Idea similar to Karate Katas and muscle memory</a:t>
            </a:r>
          </a:p>
          <a:p>
            <a:pPr lvl="1"/>
            <a:r>
              <a:rPr lang="en-US" sz="2000" dirty="0"/>
              <a:t>it becomes second nature to you</a:t>
            </a:r>
          </a:p>
          <a:p>
            <a:r>
              <a:rPr lang="en-US" sz="2400" dirty="0"/>
              <a:t>Increase in speed and skill over time</a:t>
            </a:r>
          </a:p>
          <a:p>
            <a:r>
              <a:rPr lang="en-US" sz="2400" dirty="0"/>
              <a:t>Well know example is Bowling Ball Kata</a:t>
            </a:r>
          </a:p>
          <a:p>
            <a:pPr lvl="1"/>
            <a:r>
              <a:rPr lang="en-US" sz="2000" dirty="0"/>
              <a:t>looking at that next</a:t>
            </a:r>
          </a:p>
          <a:p>
            <a:r>
              <a:rPr lang="en-US" sz="2400" dirty="0"/>
              <a:t>Key to TDD kata’s </a:t>
            </a:r>
          </a:p>
          <a:p>
            <a:pPr lvl="1"/>
            <a:r>
              <a:rPr lang="en-US" sz="2000" i="1" dirty="0"/>
              <a:t>practice, practice, practice!!!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FF0F6F-7AF3-1B46-A5C8-82F7CE6B76B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D0AFDA-675B-0642-87B1-8E2F722D336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8FF95-FD5F-8046-81C1-1511C6683F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  <p:pic>
        <p:nvPicPr>
          <p:cNvPr id="7" name="Picture 2" descr="Katas of Wado Ryu – Chojinkai Karate">
            <a:extLst>
              <a:ext uri="{FF2B5EF4-FFF2-40B4-BE49-F238E27FC236}">
                <a16:creationId xmlns:a16="http://schemas.microsoft.com/office/drawing/2014/main" id="{CFEB5A9E-A946-0C45-B6B7-5E3D021E1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976" y="277814"/>
            <a:ext cx="959892" cy="972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TDD入门首选，Bowling Kata - 简书">
            <a:extLst>
              <a:ext uri="{FF2B5EF4-FFF2-40B4-BE49-F238E27FC236}">
                <a16:creationId xmlns:a16="http://schemas.microsoft.com/office/drawing/2014/main" id="{2B1563B9-3ADF-0C4C-BB2C-1E60241D5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4354" y="4725144"/>
            <a:ext cx="1207568" cy="803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654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C86AF-EEDB-2B4F-92AD-AD372D11A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Typical Kata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C7814-251B-834E-9E8C-AC2A86C82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solidFill>
                  <a:srgbClr val="0000FF"/>
                </a:solidFill>
              </a:rPr>
              <a:t>Understand</a:t>
            </a:r>
            <a:r>
              <a:rPr lang="en-GB" sz="2400" dirty="0"/>
              <a:t> the Problem / Requirement(s)</a:t>
            </a:r>
          </a:p>
          <a:p>
            <a:r>
              <a:rPr lang="en-GB" sz="2400" i="1" dirty="0">
                <a:solidFill>
                  <a:srgbClr val="0000FF"/>
                </a:solidFill>
              </a:rPr>
              <a:t>Quick</a:t>
            </a:r>
            <a:r>
              <a:rPr lang="en-GB" sz="2400" dirty="0"/>
              <a:t> initial design session</a:t>
            </a:r>
          </a:p>
          <a:p>
            <a:pPr lvl="1"/>
            <a:r>
              <a:rPr lang="en-GB" sz="2000" dirty="0"/>
              <a:t>To give you a framework to work within</a:t>
            </a:r>
          </a:p>
          <a:p>
            <a:pPr lvl="2"/>
            <a:r>
              <a:rPr lang="en-GB" sz="1800" dirty="0"/>
              <a:t>For example, what the potential key objects might be</a:t>
            </a:r>
          </a:p>
          <a:p>
            <a:pPr lvl="1"/>
            <a:r>
              <a:rPr lang="en-GB" sz="2000" dirty="0"/>
              <a:t>This is not Big Up Front (BUF) design</a:t>
            </a:r>
          </a:p>
          <a:p>
            <a:pPr lvl="2"/>
            <a:r>
              <a:rPr lang="en-GB" sz="1800" dirty="0"/>
              <a:t>Use white board, paper and pen, tool as appropriate</a:t>
            </a:r>
          </a:p>
          <a:p>
            <a:r>
              <a:rPr lang="en-GB" sz="2400" dirty="0"/>
              <a:t>Get Started on Code</a:t>
            </a:r>
          </a:p>
          <a:p>
            <a:pPr lvl="1"/>
            <a:r>
              <a:rPr lang="en-GB" sz="2000" dirty="0"/>
              <a:t>Set up your workspace / pull project from Git etc.</a:t>
            </a:r>
          </a:p>
          <a:p>
            <a:r>
              <a:rPr lang="en-GB" sz="2400" dirty="0"/>
              <a:t>Write tests &amp; code</a:t>
            </a:r>
          </a:p>
          <a:p>
            <a:pPr lvl="1"/>
            <a:r>
              <a:rPr lang="en-GB" sz="2000" dirty="0"/>
              <a:t>Create individual tests following the red/green/refactor principles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5C833-79CF-D24B-AB4C-8B7E6BEFC9C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CA0E3-933D-4B4F-8F10-F43D527AE02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707C2-930B-0C47-AD6C-2AB2B0B952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  <p:pic>
        <p:nvPicPr>
          <p:cNvPr id="7" name="Picture 2" descr="Katas of Wado Ryu – Chojinkai Karate">
            <a:extLst>
              <a:ext uri="{FF2B5EF4-FFF2-40B4-BE49-F238E27FC236}">
                <a16:creationId xmlns:a16="http://schemas.microsoft.com/office/drawing/2014/main" id="{37A1BB42-E1A6-0F47-9059-84C61AF6B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976" y="277814"/>
            <a:ext cx="959892" cy="972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6EC771-F31C-5E4D-B571-D9A474789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14" y="4587422"/>
            <a:ext cx="1944216" cy="115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563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F553D-A889-3D49-A246-BCD10D546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Bowling Game Kata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47A2E-2DBA-0349-9A1D-DFCF2CE8A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600200"/>
            <a:ext cx="9210228" cy="4529138"/>
          </a:xfrm>
        </p:spPr>
        <p:txBody>
          <a:bodyPr/>
          <a:lstStyle/>
          <a:p>
            <a:r>
              <a:rPr lang="en-US" sz="2400" dirty="0"/>
              <a:t>Originally from Object Mentor, Inc.</a:t>
            </a:r>
          </a:p>
          <a:p>
            <a:pPr lvl="1"/>
            <a:r>
              <a:rPr lang="en-US" sz="2000" dirty="0"/>
              <a:t>Founded by Bob Martin</a:t>
            </a:r>
          </a:p>
          <a:p>
            <a:r>
              <a:rPr lang="en-US" sz="2400" dirty="0"/>
              <a:t>Most widely referenced version from Bob Martin</a:t>
            </a:r>
          </a:p>
          <a:p>
            <a:pPr lvl="1"/>
            <a:r>
              <a:rPr lang="en-US" sz="2000" dirty="0"/>
              <a:t>Aka Uncle Bob</a:t>
            </a:r>
          </a:p>
          <a:p>
            <a:r>
              <a:rPr lang="en-US" sz="2400" dirty="0"/>
              <a:t>Originally developed in the early noughties in Java </a:t>
            </a:r>
          </a:p>
          <a:p>
            <a:r>
              <a:rPr lang="en-US" sz="2400" dirty="0"/>
              <a:t>Based on the way Ten Pin Bowling games are scored</a:t>
            </a:r>
          </a:p>
          <a:p>
            <a:r>
              <a:rPr lang="en-US" sz="2400" dirty="0"/>
              <a:t>Now widely used to help teach TDD</a:t>
            </a:r>
          </a:p>
          <a:p>
            <a:r>
              <a:rPr lang="en-US" sz="2400" dirty="0"/>
              <a:t>Lots of implementations, worked examples</a:t>
            </a:r>
          </a:p>
          <a:p>
            <a:pPr lvl="1"/>
            <a:r>
              <a:rPr lang="en-US" sz="2000" dirty="0"/>
              <a:t>For almost all languages</a:t>
            </a:r>
          </a:p>
          <a:p>
            <a:pPr lvl="2"/>
            <a:r>
              <a:rPr lang="en-US" sz="1800" dirty="0"/>
              <a:t>e.g., Java, C#, JavaScript, Scala, </a:t>
            </a:r>
            <a:r>
              <a:rPr lang="en-US" sz="1800" dirty="0" err="1"/>
              <a:t>Closjure</a:t>
            </a:r>
            <a:r>
              <a:rPr lang="en-US" sz="1800" dirty="0"/>
              <a:t>, F#, Go, Swift, Kotlin etc.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B0247-FB95-E44B-BFB1-FCAAB83CA47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D355E-DFB9-A445-A1BF-8CA693F5B7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4B816-180D-824F-BB12-2745200B0A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  <p:pic>
        <p:nvPicPr>
          <p:cNvPr id="12294" name="Picture 6" descr="ILEAP Charity - ILEAP Strike it Lucky Ten Pin Bowling Mondays, 16 years and  over-Ten Pin Bowling">
            <a:extLst>
              <a:ext uri="{FF2B5EF4-FFF2-40B4-BE49-F238E27FC236}">
                <a16:creationId xmlns:a16="http://schemas.microsoft.com/office/drawing/2014/main" id="{74965BE7-DFC0-C847-A422-BB76BC65C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829" y="399885"/>
            <a:ext cx="1590294" cy="89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533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Scoring Bowling.</a:t>
            </a:r>
          </a:p>
        </p:txBody>
      </p:sp>
      <p:sp>
        <p:nvSpPr>
          <p:cNvPr id="3086" name="Text Box 14"/>
          <p:cNvSpPr txBox="1">
            <a:spLocks noChangeArrowheads="1"/>
          </p:cNvSpPr>
          <p:nvPr/>
        </p:nvSpPr>
        <p:spPr bwMode="auto">
          <a:xfrm>
            <a:off x="825715" y="2312989"/>
            <a:ext cx="8235950" cy="421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charset="0"/>
              </a:rPr>
              <a:t>The game consists of 10 frames as shown above.  In each frame the player has</a:t>
            </a:r>
          </a:p>
          <a:p>
            <a:r>
              <a:rPr lang="en-US" dirty="0">
                <a:solidFill>
                  <a:schemeClr val="tx1"/>
                </a:solidFill>
                <a:latin typeface="Arial" charset="0"/>
              </a:rPr>
              <a:t>two opportunities to knock down 10 pins.  The score for the frame is the total</a:t>
            </a:r>
          </a:p>
          <a:p>
            <a:r>
              <a:rPr lang="en-US" dirty="0">
                <a:solidFill>
                  <a:schemeClr val="tx1"/>
                </a:solidFill>
                <a:latin typeface="Arial" charset="0"/>
              </a:rPr>
              <a:t>number of pins knocked down, plus bonuses for strikes and spares.</a:t>
            </a:r>
          </a:p>
          <a:p>
            <a:endParaRPr lang="en-US" dirty="0">
              <a:solidFill>
                <a:schemeClr val="tx1"/>
              </a:solidFill>
              <a:latin typeface="Arial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charset="0"/>
              </a:rPr>
              <a:t>A spare is when the player knocks down all 10 pins in two tries.  The bonus for</a:t>
            </a:r>
          </a:p>
          <a:p>
            <a:r>
              <a:rPr lang="en-US" dirty="0">
                <a:solidFill>
                  <a:schemeClr val="tx1"/>
                </a:solidFill>
                <a:latin typeface="Arial" charset="0"/>
              </a:rPr>
              <a:t>that frame is the number of pins knocked down by the next roll.  So, in frame 3</a:t>
            </a:r>
          </a:p>
          <a:p>
            <a:r>
              <a:rPr lang="en-US" dirty="0">
                <a:solidFill>
                  <a:schemeClr val="tx1"/>
                </a:solidFill>
                <a:latin typeface="Arial" charset="0"/>
              </a:rPr>
              <a:t>above, the score is 10 (the total number knocked down) plus a bonus of 5 (the</a:t>
            </a:r>
          </a:p>
          <a:p>
            <a:r>
              <a:rPr lang="en-US" dirty="0">
                <a:solidFill>
                  <a:schemeClr val="tx1"/>
                </a:solidFill>
                <a:latin typeface="Arial" charset="0"/>
              </a:rPr>
              <a:t>number of pins knocked down on the next roll.)</a:t>
            </a:r>
          </a:p>
          <a:p>
            <a:endParaRPr lang="en-US" dirty="0">
              <a:solidFill>
                <a:schemeClr val="tx1"/>
              </a:solidFill>
              <a:latin typeface="Arial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charset="0"/>
              </a:rPr>
              <a:t>A strike is when the player knocks down all 10 pins on their first try.  The bonus</a:t>
            </a:r>
          </a:p>
          <a:p>
            <a:r>
              <a:rPr lang="en-US" dirty="0">
                <a:solidFill>
                  <a:schemeClr val="tx1"/>
                </a:solidFill>
                <a:latin typeface="Arial" charset="0"/>
              </a:rPr>
              <a:t>for that frame is the value of the next two balls rolled.</a:t>
            </a:r>
          </a:p>
          <a:p>
            <a:endParaRPr lang="en-US" dirty="0">
              <a:solidFill>
                <a:schemeClr val="tx1"/>
              </a:solidFill>
              <a:latin typeface="Arial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charset="0"/>
              </a:rPr>
              <a:t>In the tenth frame a player who rolls a spare or strike is allowed to roll the extra</a:t>
            </a:r>
          </a:p>
          <a:p>
            <a:r>
              <a:rPr lang="en-US" dirty="0">
                <a:solidFill>
                  <a:schemeClr val="tx1"/>
                </a:solidFill>
                <a:latin typeface="Arial" charset="0"/>
              </a:rPr>
              <a:t>balls to complete the frame.  However no more than three balls can be rolled in</a:t>
            </a:r>
          </a:p>
          <a:p>
            <a:r>
              <a:rPr lang="en-US" dirty="0">
                <a:solidFill>
                  <a:schemeClr val="tx1"/>
                </a:solidFill>
                <a:latin typeface="Arial" charset="0"/>
              </a:rPr>
              <a:t>tenth frame.</a:t>
            </a:r>
          </a:p>
        </p:txBody>
      </p:sp>
      <p:pic>
        <p:nvPicPr>
          <p:cNvPr id="5" name="Picture 6" descr="ILEAP Charity - ILEAP Strike it Lucky Ten Pin Bowling Mondays, 16 years and  over-Ten Pin Bowling">
            <a:extLst>
              <a:ext uri="{FF2B5EF4-FFF2-40B4-BE49-F238E27FC236}">
                <a16:creationId xmlns:a16="http://schemas.microsoft.com/office/drawing/2014/main" id="{F295920E-C725-3346-B601-06591C5A5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829" y="399885"/>
            <a:ext cx="1590294" cy="89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308ABB-2667-FF40-B9C8-A373E4D661D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1AC10-1482-6245-A52F-780B189AD22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54F39-D471-0F44-944C-2A586371BD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292F87-B67A-A241-B12B-16E046C74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0674" y="1489530"/>
            <a:ext cx="6446032" cy="7499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Requirement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body" idx="4294967295"/>
          </p:nvPr>
        </p:nvSpPr>
        <p:spPr>
          <a:xfrm>
            <a:off x="489620" y="2793455"/>
            <a:ext cx="8913681" cy="3810000"/>
          </a:xfrm>
        </p:spPr>
        <p:txBody>
          <a:bodyPr/>
          <a:lstStyle/>
          <a:p>
            <a:r>
              <a:rPr lang="en-US" sz="2400" dirty="0"/>
              <a:t>Write an application that can support two </a:t>
            </a:r>
            <a:r>
              <a:rPr lang="en-GB" sz="2400" dirty="0"/>
              <a:t>behaviours</a:t>
            </a:r>
          </a:p>
          <a:p>
            <a:endParaRPr lang="en-US" sz="2400" dirty="0"/>
          </a:p>
          <a:p>
            <a:pPr lvl="1"/>
            <a:r>
              <a:rPr lang="en-US" sz="2000" dirty="0">
                <a:solidFill>
                  <a:srgbClr val="0000FF"/>
                </a:solidFill>
              </a:rPr>
              <a:t>roll(pins : int) </a:t>
            </a:r>
            <a:r>
              <a:rPr lang="en-US" sz="2000" dirty="0"/>
              <a:t>This is called each time the player rolls a ball.  The argument is the number of pins knocked down.</a:t>
            </a:r>
          </a:p>
          <a:p>
            <a:pPr lvl="1"/>
            <a:r>
              <a:rPr lang="en-US" sz="2000" dirty="0">
                <a:solidFill>
                  <a:srgbClr val="0000FF"/>
                </a:solidFill>
              </a:rPr>
              <a:t>score() : int </a:t>
            </a:r>
            <a:r>
              <a:rPr lang="en-US" sz="2000" dirty="0"/>
              <a:t>This is called only at the very end of the game.  It returns the total score for that game.</a:t>
            </a:r>
          </a:p>
        </p:txBody>
      </p:sp>
      <p:pic>
        <p:nvPicPr>
          <p:cNvPr id="5" name="Picture 6" descr="ILEAP Charity - ILEAP Strike it Lucky Ten Pin Bowling Mondays, 16 years and  over-Ten Pin Bowling">
            <a:extLst>
              <a:ext uri="{FF2B5EF4-FFF2-40B4-BE49-F238E27FC236}">
                <a16:creationId xmlns:a16="http://schemas.microsoft.com/office/drawing/2014/main" id="{A837ADE7-F10A-B340-A9AB-2CC512634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829" y="399885"/>
            <a:ext cx="1590294" cy="89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5D9546-4405-2146-BBBB-01EF51E0628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098E3-D8B0-124C-B911-24146DE3BFA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D6985-EC1F-724B-B0D1-B117395219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100EC5-D5C1-9F33-C947-61089A0C3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880" y="1512915"/>
            <a:ext cx="1917700" cy="1282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Design Session</a:t>
            </a:r>
          </a:p>
        </p:txBody>
      </p:sp>
      <p:graphicFrame>
        <p:nvGraphicFramePr>
          <p:cNvPr id="13319" name="Object 7"/>
          <p:cNvGraphicFramePr>
            <a:graphicFrameLocks noGrp="1" noChangeAspect="1"/>
          </p:cNvGraphicFramePr>
          <p:nvPr>
            <p:ph idx="1"/>
          </p:nvPr>
        </p:nvGraphicFramePr>
        <p:xfrm>
          <a:off x="1981200" y="1219201"/>
          <a:ext cx="5867400" cy="316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126680" imgH="2227320" progId="Visio.Drawing.5">
                  <p:embed/>
                </p:oleObj>
              </mc:Choice>
              <mc:Fallback>
                <p:oleObj name="VISIO" r:id="rId3" imgW="4126680" imgH="2227320" progId="Visio.Drawing.5">
                  <p:embed/>
                  <p:pic>
                    <p:nvPicPr>
                      <p:cNvPr id="133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219201"/>
                        <a:ext cx="5867400" cy="316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1035626" y="3990846"/>
            <a:ext cx="785022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What we need to build depends on the language</a:t>
            </a:r>
          </a:p>
          <a:p>
            <a:r>
              <a:rPr lang="en-US" sz="2400" dirty="0">
                <a:solidFill>
                  <a:schemeClr val="tx1"/>
                </a:solidFill>
              </a:rPr>
              <a:t>	may need a function or a class etc.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Example uses JavaScript so we can use a Game class.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 algn="ctr"/>
            <a:r>
              <a:rPr lang="en-US" sz="2400" i="1" dirty="0">
                <a:solidFill>
                  <a:srgbClr val="C00000"/>
                </a:solidFill>
              </a:rPr>
              <a:t>Don’t get too hung up on this – it’s just to help you plan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AC6026-A1E3-5044-A2F1-DAEF4B18D8F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FD0DD5-A6D9-E64D-B07C-5F42B61BCB2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40AC-E24F-6345-BE0B-01499C0136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00A465-7507-CA43-97CE-1DEBF10AAA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Design Session</a:t>
            </a:r>
          </a:p>
        </p:txBody>
      </p:sp>
      <p:graphicFrame>
        <p:nvGraphicFramePr>
          <p:cNvPr id="16387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981200" y="1219201"/>
          <a:ext cx="5867400" cy="316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126680" imgH="2227320" progId="Visio.Drawing.5">
                  <p:embed/>
                </p:oleObj>
              </mc:Choice>
              <mc:Fallback>
                <p:oleObj name="VISIO" r:id="rId3" imgW="4126680" imgH="2227320" progId="Visio.Drawing.5">
                  <p:embed/>
                  <p:pic>
                    <p:nvPicPr>
                      <p:cNvPr id="163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219201"/>
                        <a:ext cx="5867400" cy="316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3277322" y="4155431"/>
            <a:ext cx="33496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Arial" charset="0"/>
              </a:rPr>
              <a:t>A game has 10 frames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54E411-738D-3243-9DB8-B724B01E2C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5062DB-62B8-C648-B9FB-5E0BFBF608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6DE75-7AB6-584A-A20E-46393D1C85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93A099-F04A-CA4B-94AD-16F33350F0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Design Session</a:t>
            </a:r>
          </a:p>
        </p:txBody>
      </p:sp>
      <p:graphicFrame>
        <p:nvGraphicFramePr>
          <p:cNvPr id="17411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981200" y="1219201"/>
          <a:ext cx="5867400" cy="316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126680" imgH="2227320" progId="Visio.Drawing.5">
                  <p:embed/>
                </p:oleObj>
              </mc:Choice>
              <mc:Fallback>
                <p:oleObj name="VISIO" r:id="rId3" imgW="4126680" imgH="2227320" progId="Visio.Drawing.5">
                  <p:embed/>
                  <p:pic>
                    <p:nvPicPr>
                      <p:cNvPr id="174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219201"/>
                        <a:ext cx="5867400" cy="316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3080954" y="4155431"/>
            <a:ext cx="37423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Arial" charset="0"/>
              </a:rPr>
              <a:t>A frame has 1 or two rolls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A07CEC-494D-7C43-A9ED-5CADB5C5F6C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7B439D-9CA9-DC43-B947-D2E9183E156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4C44E-D893-BB4D-B4F2-EFF98F2427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10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5EAF62-A892-0A4F-9CCE-A5E0174F9B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Design Session</a:t>
            </a:r>
          </a:p>
        </p:txBody>
      </p:sp>
      <p:graphicFrame>
        <p:nvGraphicFramePr>
          <p:cNvPr id="18435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981200" y="1219201"/>
          <a:ext cx="5867400" cy="316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126680" imgH="2227320" progId="Visio.Drawing.5">
                  <p:embed/>
                </p:oleObj>
              </mc:Choice>
              <mc:Fallback>
                <p:oleObj name="VISIO" r:id="rId3" imgW="4126680" imgH="2227320" progId="Visio.Drawing.5">
                  <p:embed/>
                  <p:pic>
                    <p:nvPicPr>
                      <p:cNvPr id="1843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219201"/>
                        <a:ext cx="5867400" cy="316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2259736" y="4807802"/>
            <a:ext cx="538480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charset="0"/>
              </a:rPr>
              <a:t>The </a:t>
            </a:r>
            <a:r>
              <a:rPr lang="en-US" sz="2400" i="1" dirty="0">
                <a:solidFill>
                  <a:schemeClr val="tx1"/>
                </a:solidFill>
                <a:latin typeface="Arial" charset="0"/>
              </a:rPr>
              <a:t>tenth</a:t>
            </a:r>
            <a:r>
              <a:rPr lang="en-US" sz="2400" dirty="0">
                <a:solidFill>
                  <a:schemeClr val="tx1"/>
                </a:solidFill>
                <a:latin typeface="Arial" charset="0"/>
              </a:rPr>
              <a:t> frame has two or three rolls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Arial" charset="0"/>
              </a:rPr>
              <a:t>It is different from all the other frames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3A9357-F1F9-F541-A0F7-B46A206F344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3D6CC4-F6E7-2F44-8408-1165A305041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41C2A-C7C7-844D-985B-F71B394922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11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45F253-3142-A64A-92BB-2E38FC332F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Design Session</a:t>
            </a:r>
          </a:p>
        </p:txBody>
      </p:sp>
      <p:graphicFrame>
        <p:nvGraphicFramePr>
          <p:cNvPr id="19459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981200" y="1219201"/>
          <a:ext cx="5867400" cy="316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126680" imgH="2227320" progId="Visio.Drawing.5">
                  <p:embed/>
                </p:oleObj>
              </mc:Choice>
              <mc:Fallback>
                <p:oleObj name="VISIO" r:id="rId3" imgW="4126680" imgH="2227320" progId="Visio.Drawing.5">
                  <p:embed/>
                  <p:pic>
                    <p:nvPicPr>
                      <p:cNvPr id="1945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219201"/>
                        <a:ext cx="5867400" cy="316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1387744" y="4807802"/>
            <a:ext cx="712879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charset="0"/>
              </a:rPr>
              <a:t>The score behaviour must iterate through all the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Arial" charset="0"/>
              </a:rPr>
              <a:t>frames, and calculate all their scores.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BDBB8F-FDC8-0A4F-A6C2-7B6F1A2621B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A1CC35-E32A-714C-9D88-23C3204601B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521D8-6863-4244-83FD-434612E6C7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12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98C840-EA38-254A-A2C3-8250ECA088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Design Session</a:t>
            </a:r>
          </a:p>
        </p:txBody>
      </p:sp>
      <p:graphicFrame>
        <p:nvGraphicFramePr>
          <p:cNvPr id="20483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981200" y="1219201"/>
          <a:ext cx="5867400" cy="316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126680" imgH="2227320" progId="Visio.Drawing.5">
                  <p:embed/>
                </p:oleObj>
              </mc:Choice>
              <mc:Fallback>
                <p:oleObj name="VISIO" r:id="rId3" imgW="4126680" imgH="2227320" progId="Visio.Drawing.5">
                  <p:embed/>
                  <p:pic>
                    <p:nvPicPr>
                      <p:cNvPr id="204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219201"/>
                        <a:ext cx="5867400" cy="316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2322612" y="4912152"/>
            <a:ext cx="518457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Arial" charset="0"/>
              </a:rPr>
              <a:t>The score for a spare or a strike depends on the frame’s successor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E7D028-508B-A148-927D-18E12189F7F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7ED2F1-2264-494E-B907-702DEC5FF5C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762F4-1853-434E-B0AE-33DA0D6EEB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13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EFCBD0-AB31-924C-AD2B-E34A525C4F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7CF2A-BB06-2034-0904-B9DF1D59E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Getting Started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C8005-3BC5-A393-108C-8B9F04B97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Set up your environment</a:t>
            </a:r>
          </a:p>
          <a:p>
            <a:r>
              <a:rPr lang="en-GB" sz="2400" dirty="0"/>
              <a:t>For example,</a:t>
            </a:r>
          </a:p>
          <a:p>
            <a:pPr lvl="1"/>
            <a:r>
              <a:rPr lang="en-GB" sz="2000" dirty="0"/>
              <a:t>Node.js</a:t>
            </a:r>
          </a:p>
          <a:p>
            <a:pPr lvl="2"/>
            <a:r>
              <a:rPr lang="en-GB" sz="1600" b="1" dirty="0" err="1"/>
              <a:t>npm</a:t>
            </a:r>
            <a:r>
              <a:rPr lang="en-GB" sz="1600" dirty="0"/>
              <a:t> </a:t>
            </a:r>
            <a:r>
              <a:rPr lang="en-GB" sz="1600" dirty="0" err="1"/>
              <a:t>init</a:t>
            </a:r>
            <a:r>
              <a:rPr lang="en-GB" sz="1600" dirty="0"/>
              <a:t> -y</a:t>
            </a:r>
          </a:p>
          <a:p>
            <a:pPr lvl="2"/>
            <a:r>
              <a:rPr lang="en-GB" sz="1600" dirty="0"/>
              <a:t>(tests to be run by “</a:t>
            </a:r>
            <a:r>
              <a:rPr lang="en-GB" sz="1600" dirty="0" err="1"/>
              <a:t>vitest</a:t>
            </a:r>
            <a:r>
              <a:rPr lang="en-GB" sz="1600" dirty="0"/>
              <a:t>”)</a:t>
            </a:r>
          </a:p>
          <a:p>
            <a:pPr lvl="1"/>
            <a:r>
              <a:rPr lang="en-GB" sz="2000" dirty="0"/>
              <a:t>Plus </a:t>
            </a:r>
            <a:r>
              <a:rPr lang="en-GB" sz="2000" dirty="0" err="1"/>
              <a:t>vitest</a:t>
            </a:r>
            <a:endParaRPr lang="en-GB" sz="2000" dirty="0"/>
          </a:p>
          <a:p>
            <a:pPr lvl="2"/>
            <a:r>
              <a:rPr lang="en-GB" sz="1600" b="1" dirty="0" err="1"/>
              <a:t>npm</a:t>
            </a:r>
            <a:r>
              <a:rPr lang="en-GB" sz="1600" dirty="0"/>
              <a:t> install --save-dev </a:t>
            </a:r>
            <a:r>
              <a:rPr lang="en-GB" sz="1600" dirty="0" err="1"/>
              <a:t>vitest</a:t>
            </a:r>
            <a:endParaRPr lang="en-GB" sz="1600" dirty="0"/>
          </a:p>
          <a:p>
            <a:pPr lvl="1"/>
            <a:r>
              <a:rPr lang="en-GB" sz="2000" dirty="0"/>
              <a:t>Update </a:t>
            </a:r>
            <a:r>
              <a:rPr lang="en-GB" sz="2000" dirty="0" err="1"/>
              <a:t>package.json</a:t>
            </a:r>
            <a:endParaRPr lang="en-GB" sz="2000" dirty="0"/>
          </a:p>
          <a:p>
            <a:pPr lvl="2"/>
            <a:r>
              <a:rPr lang="en-GB" sz="1600" dirty="0"/>
              <a:t>“test”: “</a:t>
            </a:r>
            <a:r>
              <a:rPr lang="en-GB" sz="1600" dirty="0" err="1"/>
              <a:t>vitest</a:t>
            </a:r>
            <a:r>
              <a:rPr lang="en-GB" sz="1600" dirty="0"/>
              <a:t>”</a:t>
            </a:r>
          </a:p>
          <a:p>
            <a:pPr lvl="1"/>
            <a:r>
              <a:rPr lang="en-GB" sz="2000" dirty="0"/>
              <a:t>Check can run tests</a:t>
            </a:r>
          </a:p>
          <a:p>
            <a:pPr lvl="2"/>
            <a:r>
              <a:rPr lang="en-GB" sz="1600" b="1" dirty="0" err="1"/>
              <a:t>npm</a:t>
            </a:r>
            <a:r>
              <a:rPr lang="en-GB" sz="1600" dirty="0"/>
              <a:t> test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4236E-EF73-B587-3759-95CC0CCC07E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724F7-0DB8-8712-EACE-197DD357D23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01F99-2F44-5B7C-C6AB-0322B9F4BC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878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Create a file named </a:t>
            </a:r>
            <a:r>
              <a:rPr lang="en-US" sz="2400" dirty="0" err="1"/>
              <a:t>bowlingball-game.js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EB625C-BE69-384D-A774-537877210C2C}"/>
              </a:ext>
            </a:extLst>
          </p:cNvPr>
          <p:cNvSpPr txBox="1"/>
          <p:nvPr/>
        </p:nvSpPr>
        <p:spPr>
          <a:xfrm>
            <a:off x="2216696" y="2987606"/>
            <a:ext cx="468052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1"/>
                </a:solidFill>
              </a:rPr>
              <a:t>export default class </a:t>
            </a:r>
            <a:r>
              <a:rPr lang="en-GB" b="1" dirty="0" err="1">
                <a:solidFill>
                  <a:schemeClr val="tx1"/>
                </a:solidFill>
              </a:rPr>
              <a:t>BowlingGame</a:t>
            </a:r>
            <a:r>
              <a:rPr lang="en-GB" b="1" dirty="0">
                <a:solidFill>
                  <a:schemeClr val="tx1"/>
                </a:solidFill>
              </a:rPr>
              <a:t> {}</a:t>
            </a:r>
            <a:endParaRPr lang="en-GB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824A98-66F6-874C-AA08-598A5F90D0A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432212-6A5D-744E-862C-3F03B529C97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21D6F-D8C1-F24F-ABC9-4B7A227139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15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9109A2-9F1B-1E4E-BD1D-7159B0FCD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Create a file named </a:t>
            </a:r>
            <a:r>
              <a:rPr lang="en-US" sz="2400" dirty="0" err="1"/>
              <a:t>bowlingball-game.js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Create a unit test named </a:t>
            </a:r>
            <a:r>
              <a:rPr lang="en-US" sz="2400" dirty="0" err="1"/>
              <a:t>bowlingball-game.test.js</a:t>
            </a:r>
            <a:endParaRPr lang="en-US" sz="24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824A98-66F6-874C-AA08-598A5F90D0A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432212-6A5D-744E-862C-3F03B529C97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21D6F-D8C1-F24F-ABC9-4B7A227139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16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9109A2-9F1B-1E4E-BD1D-7159B0FCD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D34155D-108A-F048-9BDD-6BB7F06B5756}"/>
              </a:ext>
            </a:extLst>
          </p:cNvPr>
          <p:cNvSpPr txBox="1"/>
          <p:nvPr/>
        </p:nvSpPr>
        <p:spPr>
          <a:xfrm>
            <a:off x="1164702" y="5517232"/>
            <a:ext cx="740373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import </a:t>
            </a:r>
            <a:r>
              <a:rPr lang="en-GB" dirty="0" err="1">
                <a:solidFill>
                  <a:schemeClr val="tx1"/>
                </a:solidFill>
              </a:rPr>
              <a:t>BowlingGame</a:t>
            </a:r>
            <a:r>
              <a:rPr lang="en-GB" dirty="0">
                <a:solidFill>
                  <a:schemeClr val="tx1"/>
                </a:solidFill>
              </a:rPr>
              <a:t> from './bowling-</a:t>
            </a:r>
            <a:r>
              <a:rPr lang="en-GB" dirty="0" err="1">
                <a:solidFill>
                  <a:schemeClr val="tx1"/>
                </a:solidFill>
              </a:rPr>
              <a:t>game.js</a:t>
            </a:r>
            <a:r>
              <a:rPr lang="en-GB" dirty="0">
                <a:solidFill>
                  <a:schemeClr val="tx1"/>
                </a:solidFill>
              </a:rPr>
              <a:t>';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5B36B9-0D7D-73BE-AB86-313258153066}"/>
              </a:ext>
            </a:extLst>
          </p:cNvPr>
          <p:cNvSpPr txBox="1"/>
          <p:nvPr/>
        </p:nvSpPr>
        <p:spPr>
          <a:xfrm>
            <a:off x="2216696" y="2987606"/>
            <a:ext cx="468052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1"/>
                </a:solidFill>
              </a:rPr>
              <a:t>export default class </a:t>
            </a:r>
            <a:r>
              <a:rPr lang="en-GB" b="1" dirty="0" err="1">
                <a:solidFill>
                  <a:schemeClr val="tx1"/>
                </a:solidFill>
              </a:rPr>
              <a:t>BowlingGame</a:t>
            </a:r>
            <a:r>
              <a:rPr lang="en-GB" b="1" dirty="0">
                <a:solidFill>
                  <a:schemeClr val="tx1"/>
                </a:solidFill>
              </a:rPr>
              <a:t> {}</a:t>
            </a:r>
            <a:endParaRPr lang="en-GB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276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DFEA3-F38E-58E5-CAB3-DC4DC340A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0D2DCBF6-8E46-F518-B97F-8DB4F34296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CBD760F-4B3F-67D8-D710-DAAFFCF523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Create a file named bowling-</a:t>
            </a:r>
            <a:r>
              <a:rPr lang="en-US" sz="2400" dirty="0" err="1"/>
              <a:t>game.js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Create a unit test named bowling-</a:t>
            </a:r>
            <a:r>
              <a:rPr lang="en-US" sz="2400" dirty="0" err="1"/>
              <a:t>game.test.js</a:t>
            </a:r>
            <a:endParaRPr lang="en-US" sz="24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622A84-45CA-9603-FCF5-E8216CA6517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466E69-57CC-DF16-4128-BF2FFBB594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E7989-07EA-92DA-F90D-A1903A9992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17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B47FDE-CD64-81EB-8950-BB43C257B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33BD3C-FC6E-A386-5980-F878737E4139}"/>
              </a:ext>
            </a:extLst>
          </p:cNvPr>
          <p:cNvSpPr txBox="1"/>
          <p:nvPr/>
        </p:nvSpPr>
        <p:spPr>
          <a:xfrm>
            <a:off x="1164702" y="4744344"/>
            <a:ext cx="740373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import </a:t>
            </a:r>
            <a:r>
              <a:rPr lang="en-GB" dirty="0" err="1">
                <a:solidFill>
                  <a:schemeClr val="tx1"/>
                </a:solidFill>
              </a:rPr>
              <a:t>BowlingGame</a:t>
            </a:r>
            <a:r>
              <a:rPr lang="en-GB" dirty="0">
                <a:solidFill>
                  <a:schemeClr val="tx1"/>
                </a:solidFill>
              </a:rPr>
              <a:t> from './bowling-</a:t>
            </a:r>
            <a:r>
              <a:rPr lang="en-GB" dirty="0" err="1">
                <a:solidFill>
                  <a:schemeClr val="tx1"/>
                </a:solidFill>
              </a:rPr>
              <a:t>game.js</a:t>
            </a:r>
            <a:r>
              <a:rPr lang="en-GB" dirty="0">
                <a:solidFill>
                  <a:schemeClr val="tx1"/>
                </a:solidFill>
              </a:rPr>
              <a:t>';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B8BAAF-C2E4-5588-B238-AB9EE2779FAF}"/>
              </a:ext>
            </a:extLst>
          </p:cNvPr>
          <p:cNvSpPr txBox="1"/>
          <p:nvPr/>
        </p:nvSpPr>
        <p:spPr>
          <a:xfrm>
            <a:off x="2216696" y="2987606"/>
            <a:ext cx="468052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1"/>
                </a:solidFill>
              </a:rPr>
              <a:t>export default class </a:t>
            </a:r>
            <a:r>
              <a:rPr lang="en-GB" b="1" dirty="0" err="1">
                <a:solidFill>
                  <a:schemeClr val="tx1"/>
                </a:solidFill>
              </a:rPr>
              <a:t>BowlingGame</a:t>
            </a:r>
            <a:r>
              <a:rPr lang="en-GB" b="1" dirty="0">
                <a:solidFill>
                  <a:schemeClr val="tx1"/>
                </a:solidFill>
              </a:rPr>
              <a:t> {}</a:t>
            </a:r>
            <a:endParaRPr lang="en-GB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777E70-1B80-54B9-C810-25A96310B4A8}"/>
              </a:ext>
            </a:extLst>
          </p:cNvPr>
          <p:cNvSpPr txBox="1"/>
          <p:nvPr/>
        </p:nvSpPr>
        <p:spPr>
          <a:xfrm>
            <a:off x="2229617" y="6011165"/>
            <a:ext cx="5634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Exact behaviour will depend on language / tooling etc</a:t>
            </a:r>
          </a:p>
        </p:txBody>
      </p:sp>
    </p:spTree>
    <p:extLst>
      <p:ext uri="{BB962C8B-B14F-4D97-AF65-F5344CB8AC3E}">
        <p14:creationId xmlns:p14="http://schemas.microsoft.com/office/powerpoint/2010/main" val="3055149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 Test</a:t>
            </a:r>
          </a:p>
        </p:txBody>
      </p:sp>
      <p:sp>
        <p:nvSpPr>
          <p:cNvPr id="34823" name="Text Box 7"/>
          <p:cNvSpPr txBox="1">
            <a:spLocks noChangeArrowheads="1"/>
          </p:cNvSpPr>
          <p:nvPr/>
        </p:nvSpPr>
        <p:spPr bwMode="auto">
          <a:xfrm>
            <a:off x="5181600" y="1295401"/>
            <a:ext cx="403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sz="10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3634A1-F8A5-8E4B-BB2B-D5160C89CB7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C8FC2-EAD2-3548-8ECF-9C0E78147FE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5E7D1-6B4F-E247-81E0-E9176A425B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18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D9CBE7-FD6E-704B-97FE-B26DA2AD19F7}"/>
              </a:ext>
            </a:extLst>
          </p:cNvPr>
          <p:cNvSpPr txBox="1"/>
          <p:nvPr/>
        </p:nvSpPr>
        <p:spPr>
          <a:xfrm>
            <a:off x="2317806" y="5361495"/>
            <a:ext cx="5673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Identify the simplest test – e.g. a game with no scores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78FE8C-925D-A541-BDBA-A40AE5949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64C8B50-8D7E-4543-BC62-FEE67B84C3C3}"/>
              </a:ext>
            </a:extLst>
          </p:cNvPr>
          <p:cNvSpPr txBox="1"/>
          <p:nvPr/>
        </p:nvSpPr>
        <p:spPr>
          <a:xfrm>
            <a:off x="1468353" y="1982373"/>
            <a:ext cx="6984772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import { describe, it, expect } from '</a:t>
            </a:r>
            <a:r>
              <a:rPr lang="en-GB" dirty="0" err="1">
                <a:solidFill>
                  <a:schemeClr val="tx1"/>
                </a:solidFill>
              </a:rPr>
              <a:t>vitest</a:t>
            </a:r>
            <a:r>
              <a:rPr lang="en-GB" dirty="0">
                <a:solidFill>
                  <a:schemeClr val="tx1"/>
                </a:solidFill>
              </a:rPr>
              <a:t>';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import </a:t>
            </a:r>
            <a:r>
              <a:rPr lang="en-GB" dirty="0" err="1">
                <a:solidFill>
                  <a:schemeClr val="tx1"/>
                </a:solidFill>
              </a:rPr>
              <a:t>BowlingGame</a:t>
            </a:r>
            <a:r>
              <a:rPr lang="en-GB" dirty="0">
                <a:solidFill>
                  <a:schemeClr val="tx1"/>
                </a:solidFill>
              </a:rPr>
              <a:t> from './bowling-</a:t>
            </a:r>
            <a:r>
              <a:rPr lang="en-GB" dirty="0" err="1">
                <a:solidFill>
                  <a:schemeClr val="tx1"/>
                </a:solidFill>
              </a:rPr>
              <a:t>game.js</a:t>
            </a:r>
            <a:r>
              <a:rPr lang="en-GB" dirty="0">
                <a:solidFill>
                  <a:schemeClr val="tx1"/>
                </a:solidFill>
              </a:rPr>
              <a:t>';</a:t>
            </a:r>
            <a:br>
              <a:rPr lang="en-GB" dirty="0">
                <a:solidFill>
                  <a:schemeClr val="tx1"/>
                </a:solidFill>
              </a:rPr>
            </a:b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describe('</a:t>
            </a:r>
            <a:r>
              <a:rPr lang="en-GB" dirty="0" err="1">
                <a:solidFill>
                  <a:schemeClr val="tx1"/>
                </a:solidFill>
              </a:rPr>
              <a:t>BowlingGame</a:t>
            </a:r>
            <a:r>
              <a:rPr lang="en-GB" dirty="0">
                <a:solidFill>
                  <a:schemeClr val="tx1"/>
                </a:solidFill>
              </a:rPr>
              <a:t>', () =&gt; {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	it('should return 0 for a game of all zeros', () =&gt; {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		</a:t>
            </a:r>
            <a:r>
              <a:rPr lang="en-GB" dirty="0" err="1">
                <a:solidFill>
                  <a:schemeClr val="tx1"/>
                </a:solidFill>
              </a:rPr>
              <a:t>const</a:t>
            </a:r>
            <a:r>
              <a:rPr lang="en-GB" dirty="0">
                <a:solidFill>
                  <a:schemeClr val="tx1"/>
                </a:solidFill>
              </a:rPr>
              <a:t> game = new </a:t>
            </a:r>
            <a:r>
              <a:rPr lang="en-GB" dirty="0" err="1">
                <a:solidFill>
                  <a:schemeClr val="tx1"/>
                </a:solidFill>
              </a:rPr>
              <a:t>BowlingGame</a:t>
            </a:r>
            <a:r>
              <a:rPr lang="en-GB" dirty="0">
                <a:solidFill>
                  <a:schemeClr val="tx1"/>
                </a:solidFill>
              </a:rPr>
              <a:t>();</a:t>
            </a:r>
            <a:br>
              <a:rPr lang="en-GB" dirty="0">
                <a:solidFill>
                  <a:schemeClr val="tx1"/>
                </a:solidFill>
              </a:rPr>
            </a:b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		for (let </a:t>
            </a:r>
            <a:r>
              <a:rPr lang="en-GB" dirty="0" err="1">
                <a:solidFill>
                  <a:schemeClr val="tx1"/>
                </a:solidFill>
              </a:rPr>
              <a:t>i</a:t>
            </a:r>
            <a:r>
              <a:rPr lang="en-GB" dirty="0">
                <a:solidFill>
                  <a:schemeClr val="tx1"/>
                </a:solidFill>
              </a:rPr>
              <a:t> = 0; </a:t>
            </a:r>
            <a:r>
              <a:rPr lang="en-GB" dirty="0" err="1">
                <a:solidFill>
                  <a:schemeClr val="tx1"/>
                </a:solidFill>
              </a:rPr>
              <a:t>i</a:t>
            </a:r>
            <a:r>
              <a:rPr lang="en-GB" dirty="0">
                <a:solidFill>
                  <a:schemeClr val="tx1"/>
                </a:solidFill>
              </a:rPr>
              <a:t> &lt; 20; </a:t>
            </a:r>
            <a:r>
              <a:rPr lang="en-GB" dirty="0" err="1">
                <a:solidFill>
                  <a:schemeClr val="tx1"/>
                </a:solidFill>
              </a:rPr>
              <a:t>i</a:t>
            </a:r>
            <a:r>
              <a:rPr lang="en-GB" dirty="0">
                <a:solidFill>
                  <a:schemeClr val="tx1"/>
                </a:solidFill>
              </a:rPr>
              <a:t>++) {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			</a:t>
            </a:r>
            <a:r>
              <a:rPr lang="en-GB" dirty="0" err="1">
                <a:solidFill>
                  <a:schemeClr val="tx1"/>
                </a:solidFill>
              </a:rPr>
              <a:t>game.roll</a:t>
            </a:r>
            <a:r>
              <a:rPr lang="en-GB" dirty="0">
                <a:solidFill>
                  <a:schemeClr val="tx1"/>
                </a:solidFill>
              </a:rPr>
              <a:t>(0);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		}</a:t>
            </a:r>
            <a:br>
              <a:rPr lang="en-GB" dirty="0">
                <a:solidFill>
                  <a:schemeClr val="tx1"/>
                </a:solidFill>
              </a:rPr>
            </a:b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		expect(</a:t>
            </a:r>
            <a:r>
              <a:rPr lang="en-GB" dirty="0" err="1">
                <a:solidFill>
                  <a:schemeClr val="tx1"/>
                </a:solidFill>
              </a:rPr>
              <a:t>game.score</a:t>
            </a:r>
            <a:r>
              <a:rPr lang="en-GB" dirty="0">
                <a:solidFill>
                  <a:schemeClr val="tx1"/>
                </a:solidFill>
              </a:rPr>
              <a:t>).</a:t>
            </a:r>
            <a:r>
              <a:rPr lang="en-GB" dirty="0" err="1">
                <a:solidFill>
                  <a:schemeClr val="tx1"/>
                </a:solidFill>
              </a:rPr>
              <a:t>toBe</a:t>
            </a:r>
            <a:r>
              <a:rPr lang="en-GB" dirty="0">
                <a:solidFill>
                  <a:schemeClr val="tx1"/>
                </a:solidFill>
              </a:rPr>
              <a:t>(0);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	});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});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95646-3C2D-82FB-46F0-D5FC45415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First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7F842-DC46-103B-EDBE-6F1FCA7D6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600200"/>
            <a:ext cx="4097660" cy="4529138"/>
          </a:xfrm>
        </p:spPr>
        <p:txBody>
          <a:bodyPr/>
          <a:lstStyle/>
          <a:p>
            <a:r>
              <a:rPr lang="en-GB" sz="2400" dirty="0"/>
              <a:t>Implement enough of the test for it to run</a:t>
            </a:r>
          </a:p>
          <a:p>
            <a:pPr lvl="1"/>
            <a:r>
              <a:rPr lang="en-GB" sz="2000" dirty="0"/>
              <a:t>Do the simplest thing!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88145-90D4-2AE3-98E0-C662FFF11C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B0903-1B30-343E-0D99-3FBA4EAF2A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8E4DE-8D7F-729D-ED62-2525F7CDB3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19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699CFD-E8CF-359C-D3A0-9BD10B46D5E1}"/>
              </a:ext>
            </a:extLst>
          </p:cNvPr>
          <p:cNvSpPr txBox="1"/>
          <p:nvPr/>
        </p:nvSpPr>
        <p:spPr>
          <a:xfrm>
            <a:off x="4952140" y="2132856"/>
            <a:ext cx="3817284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roll(pins) {}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get score()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return 0;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AEBFAA-D30F-BDF7-7BCB-22B197013617}"/>
              </a:ext>
            </a:extLst>
          </p:cNvPr>
          <p:cNvSpPr txBox="1"/>
          <p:nvPr/>
        </p:nvSpPr>
        <p:spPr>
          <a:xfrm>
            <a:off x="765438" y="4365104"/>
            <a:ext cx="35573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Do the minimum implementation </a:t>
            </a:r>
          </a:p>
          <a:p>
            <a:r>
              <a:rPr lang="en-GB" i="1" dirty="0">
                <a:solidFill>
                  <a:srgbClr val="0000FF"/>
                </a:solidFill>
              </a:rPr>
              <a:t>To allow the test to pass</a:t>
            </a:r>
          </a:p>
        </p:txBody>
      </p:sp>
    </p:spTree>
    <p:extLst>
      <p:ext uri="{BB962C8B-B14F-4D97-AF65-F5344CB8AC3E}">
        <p14:creationId xmlns:p14="http://schemas.microsoft.com/office/powerpoint/2010/main" val="3011762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 Test</a:t>
            </a:r>
          </a:p>
        </p:txBody>
      </p:sp>
      <p:sp>
        <p:nvSpPr>
          <p:cNvPr id="34823" name="Text Box 7"/>
          <p:cNvSpPr txBox="1">
            <a:spLocks noChangeArrowheads="1"/>
          </p:cNvSpPr>
          <p:nvPr/>
        </p:nvSpPr>
        <p:spPr bwMode="auto">
          <a:xfrm>
            <a:off x="5181600" y="1295401"/>
            <a:ext cx="403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sz="10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F85F1F-4AA7-EC4D-8D31-18806EB8FA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A46D82-3B7E-BF46-9192-06C689EB60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4080E4-F3E0-6149-82FC-05BEB4A595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20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BCE495-040F-544B-86A9-1A10DE635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3D6FBE-A6E4-86C1-00DC-AB93722F882A}"/>
              </a:ext>
            </a:extLst>
          </p:cNvPr>
          <p:cNvSpPr txBox="1"/>
          <p:nvPr/>
        </p:nvSpPr>
        <p:spPr>
          <a:xfrm>
            <a:off x="495300" y="1621756"/>
            <a:ext cx="6984772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	it('should return 0 for a game of all zeros',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</a:t>
            </a:r>
            <a:r>
              <a:rPr lang="en-GB" sz="1600" dirty="0" err="1">
                <a:solidFill>
                  <a:schemeClr val="tx1"/>
                </a:solidFill>
              </a:rPr>
              <a:t>const</a:t>
            </a:r>
            <a:r>
              <a:rPr lang="en-GB" sz="1600" dirty="0">
                <a:solidFill>
                  <a:schemeClr val="tx1"/>
                </a:solidFill>
              </a:rPr>
              <a:t> game = new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();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for 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= 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&lt; 20;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++)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(0);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(0);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});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5D1894-C42A-FB41-95C6-85BF3EB58465}"/>
              </a:ext>
            </a:extLst>
          </p:cNvPr>
          <p:cNvSpPr txBox="1"/>
          <p:nvPr/>
        </p:nvSpPr>
        <p:spPr>
          <a:xfrm>
            <a:off x="4014905" y="2971261"/>
            <a:ext cx="5404471" cy="10772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>
                <a:solidFill>
                  <a:schemeClr val="tx1"/>
                </a:solidFill>
              </a:rPr>
              <a:t>% </a:t>
            </a:r>
            <a:r>
              <a:rPr lang="en-GB" sz="1600" b="1" dirty="0" err="1">
                <a:solidFill>
                  <a:schemeClr val="tx1"/>
                </a:solidFill>
              </a:rPr>
              <a:t>npm</a:t>
            </a:r>
            <a:r>
              <a:rPr lang="en-GB" sz="1600" b="1" dirty="0">
                <a:solidFill>
                  <a:schemeClr val="tx1"/>
                </a:solidFill>
              </a:rPr>
              <a:t> test</a:t>
            </a:r>
          </a:p>
          <a:p>
            <a:pPr>
              <a:buNone/>
            </a:pPr>
            <a:endParaRPr lang="en-GB" sz="1600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&gt; bowlinggamekata@1.0.0 test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&gt; 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24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 Test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CC12A9-0925-8A4A-8BB5-8E0647E54B6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BF5504-95B4-5344-AE2B-85D097DE53A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F04C1B-5094-744A-8B3F-74280556FF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21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4F4C49-4C7E-C245-A8C6-718E23A10EF5}"/>
              </a:ext>
            </a:extLst>
          </p:cNvPr>
          <p:cNvSpPr txBox="1"/>
          <p:nvPr/>
        </p:nvSpPr>
        <p:spPr>
          <a:xfrm>
            <a:off x="5795527" y="348343"/>
            <a:ext cx="2826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Make it fail to check it can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55CA97-4BB2-8D8D-8BD2-310176A5A71D}"/>
              </a:ext>
            </a:extLst>
          </p:cNvPr>
          <p:cNvSpPr txBox="1"/>
          <p:nvPr/>
        </p:nvSpPr>
        <p:spPr>
          <a:xfrm>
            <a:off x="3944888" y="2051845"/>
            <a:ext cx="5688632" cy="42780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>
                <a:solidFill>
                  <a:schemeClr val="tx1"/>
                </a:solidFill>
              </a:rPr>
              <a:t>% </a:t>
            </a:r>
            <a:r>
              <a:rPr lang="en-GB" sz="1600" b="1" dirty="0" err="1">
                <a:solidFill>
                  <a:schemeClr val="tx1"/>
                </a:solidFill>
              </a:rPr>
              <a:t>npm</a:t>
            </a:r>
            <a:r>
              <a:rPr lang="en-GB" sz="1600" b="1" dirty="0">
                <a:solidFill>
                  <a:schemeClr val="tx1"/>
                </a:solidFill>
              </a:rPr>
              <a:t> test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&gt; bowlinggamekata@1.0.0 test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&gt; 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Started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F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Failures: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1) should return 0 for a game of all zeros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  Message:</a:t>
            </a:r>
          </a:p>
          <a:p>
            <a:pPr>
              <a:buNone/>
            </a:pPr>
            <a:r>
              <a:rPr lang="en-GB" sz="1600" b="1" dirty="0">
                <a:solidFill>
                  <a:srgbClr val="C00000"/>
                </a:solidFill>
              </a:rPr>
              <a:t>    Expected -1 to equal 0.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  Stack: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        at &lt;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&gt;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      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1 spec, 1 failure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Finished in 0.006 seconds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F4DE6E-E1E2-C9EF-D249-66021D1BEEC2}"/>
              </a:ext>
            </a:extLst>
          </p:cNvPr>
          <p:cNvSpPr txBox="1"/>
          <p:nvPr/>
        </p:nvSpPr>
        <p:spPr>
          <a:xfrm>
            <a:off x="495300" y="1700808"/>
            <a:ext cx="3240360" cy="20621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roll(pins) {}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get score()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return </a:t>
            </a:r>
            <a:r>
              <a:rPr lang="en-GB" sz="1600" dirty="0">
                <a:solidFill>
                  <a:srgbClr val="FF0000"/>
                </a:solidFill>
              </a:rPr>
              <a:t>-1</a:t>
            </a:r>
            <a:r>
              <a:rPr lang="en-GB" sz="1600" dirty="0">
                <a:solidFill>
                  <a:schemeClr val="tx1"/>
                </a:solidFill>
              </a:rPr>
              <a:t>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31062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 Test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04CA4-4702-3A41-AAA5-F0519F91D2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F7858-5370-284A-BF13-1759A10AA64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495CAED-F321-0B4B-9233-A3ED78A2C3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22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EC7029-92B1-9447-9BF4-A5428500ED90}"/>
              </a:ext>
            </a:extLst>
          </p:cNvPr>
          <p:cNvSpPr txBox="1"/>
          <p:nvPr/>
        </p:nvSpPr>
        <p:spPr>
          <a:xfrm>
            <a:off x="5795527" y="348343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Do the minimum to pass the test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85FDAB-BD51-6AC1-86CA-D5A30E0300CC}"/>
              </a:ext>
            </a:extLst>
          </p:cNvPr>
          <p:cNvSpPr txBox="1"/>
          <p:nvPr/>
        </p:nvSpPr>
        <p:spPr>
          <a:xfrm>
            <a:off x="6543663" y="4248758"/>
            <a:ext cx="3209792" cy="28007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>
                <a:solidFill>
                  <a:schemeClr val="tx1"/>
                </a:solidFill>
              </a:rPr>
              <a:t>% </a:t>
            </a:r>
            <a:r>
              <a:rPr lang="en-GB" sz="1600" b="1" dirty="0" err="1">
                <a:solidFill>
                  <a:schemeClr val="tx1"/>
                </a:solidFill>
              </a:rPr>
              <a:t>npm</a:t>
            </a:r>
            <a:r>
              <a:rPr lang="en-GB" sz="1600" b="1" dirty="0">
                <a:solidFill>
                  <a:schemeClr val="tx1"/>
                </a:solidFill>
              </a:rPr>
              <a:t> test</a:t>
            </a:r>
          </a:p>
          <a:p>
            <a:pPr>
              <a:buNone/>
            </a:pPr>
            <a:endParaRPr lang="en-GB" sz="1600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&gt; bowlinggamekata@1.0.0 test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&gt; 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Randomized with seed 83105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Started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.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1 spec, 0 failures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91ABAE-B2E5-7BCD-2021-EF84407B7E78}"/>
              </a:ext>
            </a:extLst>
          </p:cNvPr>
          <p:cNvSpPr txBox="1"/>
          <p:nvPr/>
        </p:nvSpPr>
        <p:spPr>
          <a:xfrm>
            <a:off x="495300" y="1621756"/>
            <a:ext cx="6984772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it('should return 0 for a game of all zeros',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</a:t>
            </a:r>
            <a:r>
              <a:rPr lang="en-GB" sz="1600" dirty="0" err="1">
                <a:solidFill>
                  <a:schemeClr val="tx1"/>
                </a:solidFill>
              </a:rPr>
              <a:t>const</a:t>
            </a:r>
            <a:r>
              <a:rPr lang="en-GB" sz="1600" dirty="0">
                <a:solidFill>
                  <a:schemeClr val="tx1"/>
                </a:solidFill>
              </a:rPr>
              <a:t> game = new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();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for 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= 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&lt; 20;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++)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(0);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(0);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});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26A637-75F9-2251-C087-4FDFB59E06C6}"/>
              </a:ext>
            </a:extLst>
          </p:cNvPr>
          <p:cNvSpPr txBox="1"/>
          <p:nvPr/>
        </p:nvSpPr>
        <p:spPr>
          <a:xfrm>
            <a:off x="6321153" y="1694213"/>
            <a:ext cx="3384376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roll(pins) {}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get score()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return 0;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221235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Second Test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7A96BE-A596-5947-ABC4-DAB6EDE42D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9B76F1-C109-FF4C-850E-FA5E4A0D04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22A59-FEDF-BF44-A7DA-4DBA46CF0F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23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6235CA-C77F-9D43-B895-94E7C5BADDD4}"/>
              </a:ext>
            </a:extLst>
          </p:cNvPr>
          <p:cNvSpPr txBox="1"/>
          <p:nvPr/>
        </p:nvSpPr>
        <p:spPr>
          <a:xfrm>
            <a:off x="5795527" y="348343"/>
            <a:ext cx="3535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Do the next simplest test – e.g.</a:t>
            </a:r>
          </a:p>
          <a:p>
            <a:r>
              <a:rPr lang="en-GB" i="1" dirty="0">
                <a:solidFill>
                  <a:srgbClr val="0000FF"/>
                </a:solidFill>
              </a:rPr>
              <a:t>A game that scores 1 in each roll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929ED6-42F8-7E36-DA0F-7B731A1BDCE8}"/>
              </a:ext>
            </a:extLst>
          </p:cNvPr>
          <p:cNvSpPr txBox="1"/>
          <p:nvPr/>
        </p:nvSpPr>
        <p:spPr>
          <a:xfrm>
            <a:off x="6824439" y="1694213"/>
            <a:ext cx="2397833" cy="30469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b="1" dirty="0">
                <a:solidFill>
                  <a:schemeClr val="tx1"/>
                </a:solidFill>
              </a:rPr>
              <a:t>constructor</a:t>
            </a:r>
            <a:r>
              <a:rPr lang="en-GB" sz="1600" dirty="0">
                <a:solidFill>
                  <a:schemeClr val="tx1"/>
                </a:solidFill>
              </a:rPr>
              <a:t>(){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rolls(pins){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b="1" dirty="0">
                <a:solidFill>
                  <a:schemeClr val="tx1"/>
                </a:solidFill>
              </a:rPr>
              <a:t>get</a:t>
            </a:r>
            <a:r>
              <a:rPr lang="en-GB" sz="1600" dirty="0">
                <a:solidFill>
                  <a:schemeClr val="tx1"/>
                </a:solidFill>
              </a:rPr>
              <a:t> score(){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        return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b="1" dirty="0">
                <a:solidFill>
                  <a:srgbClr val="0000FF"/>
                </a:solidFill>
              </a:rPr>
              <a:t>0</a:t>
            </a:r>
            <a:r>
              <a:rPr lang="en-GB" sz="1600" dirty="0">
                <a:solidFill>
                  <a:schemeClr val="tx1"/>
                </a:solidFill>
              </a:rPr>
              <a:t>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7B06E4-FB3B-3C14-5130-32B82E3ED8F4}"/>
              </a:ext>
            </a:extLst>
          </p:cNvPr>
          <p:cNvSpPr txBox="1"/>
          <p:nvPr/>
        </p:nvSpPr>
        <p:spPr>
          <a:xfrm>
            <a:off x="495299" y="1621756"/>
            <a:ext cx="6033029" cy="4031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// …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it('should return 20 for a game of all ones',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</a:t>
            </a:r>
            <a:r>
              <a:rPr lang="en-GB" sz="1600" dirty="0" err="1">
                <a:solidFill>
                  <a:schemeClr val="tx1"/>
                </a:solidFill>
              </a:rPr>
              <a:t>const</a:t>
            </a:r>
            <a:r>
              <a:rPr lang="en-GB" sz="1600" dirty="0">
                <a:solidFill>
                  <a:schemeClr val="tx1"/>
                </a:solidFill>
              </a:rPr>
              <a:t> game = new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();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for 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= 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&lt; 20;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++)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(1);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(20);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});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Second Test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87CAA5-1FAE-B04F-A229-911B6F18367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34E780-8AD2-EB4D-991B-8532D521FA4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C7060-04F6-3546-9D35-6AD9E57D0F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24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E8A73A-2B03-684E-956A-C23220ADD256}"/>
              </a:ext>
            </a:extLst>
          </p:cNvPr>
          <p:cNvSpPr txBox="1"/>
          <p:nvPr/>
        </p:nvSpPr>
        <p:spPr>
          <a:xfrm>
            <a:off x="6684552" y="397765"/>
            <a:ext cx="1715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Test should fail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9CD21F-97BB-1681-C828-CCF0747714BA}"/>
              </a:ext>
            </a:extLst>
          </p:cNvPr>
          <p:cNvSpPr txBox="1"/>
          <p:nvPr/>
        </p:nvSpPr>
        <p:spPr>
          <a:xfrm>
            <a:off x="6824439" y="1694213"/>
            <a:ext cx="2397833" cy="30469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b="1" dirty="0">
                <a:solidFill>
                  <a:schemeClr val="tx1"/>
                </a:solidFill>
              </a:rPr>
              <a:t>constructor</a:t>
            </a:r>
            <a:r>
              <a:rPr lang="en-GB" sz="1600" dirty="0">
                <a:solidFill>
                  <a:schemeClr val="tx1"/>
                </a:solidFill>
              </a:rPr>
              <a:t>(){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rolls(pins){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b="1" dirty="0">
                <a:solidFill>
                  <a:schemeClr val="tx1"/>
                </a:solidFill>
              </a:rPr>
              <a:t>get</a:t>
            </a:r>
            <a:r>
              <a:rPr lang="en-GB" sz="1600" dirty="0">
                <a:solidFill>
                  <a:schemeClr val="tx1"/>
                </a:solidFill>
              </a:rPr>
              <a:t> score(){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        return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b="1" dirty="0">
                <a:solidFill>
                  <a:srgbClr val="0000FF"/>
                </a:solidFill>
              </a:rPr>
              <a:t>0</a:t>
            </a:r>
            <a:r>
              <a:rPr lang="en-GB" sz="1600" dirty="0">
                <a:solidFill>
                  <a:schemeClr val="tx1"/>
                </a:solidFill>
              </a:rPr>
              <a:t>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5E1351-BA34-3E45-D2CA-57D11C12FF2F}"/>
              </a:ext>
            </a:extLst>
          </p:cNvPr>
          <p:cNvSpPr txBox="1"/>
          <p:nvPr/>
        </p:nvSpPr>
        <p:spPr>
          <a:xfrm>
            <a:off x="495299" y="1621756"/>
            <a:ext cx="6033029" cy="42780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// …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it('should return 20 for a game of all ones',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</a:t>
            </a:r>
            <a:r>
              <a:rPr lang="en-GB" sz="1600" dirty="0" err="1">
                <a:solidFill>
                  <a:schemeClr val="tx1"/>
                </a:solidFill>
              </a:rPr>
              <a:t>const</a:t>
            </a:r>
            <a:r>
              <a:rPr lang="en-GB" sz="1600" dirty="0">
                <a:solidFill>
                  <a:schemeClr val="tx1"/>
                </a:solidFill>
              </a:rPr>
              <a:t> game = new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();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for 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= 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&lt; 20;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++)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(1);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(20);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});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});</a:t>
            </a:r>
          </a:p>
          <a:p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CDBC0E-A2D6-0950-E2E3-9593705308CB}"/>
              </a:ext>
            </a:extLst>
          </p:cNvPr>
          <p:cNvSpPr txBox="1"/>
          <p:nvPr/>
        </p:nvSpPr>
        <p:spPr>
          <a:xfrm>
            <a:off x="4011290" y="4382989"/>
            <a:ext cx="4280686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>
                <a:solidFill>
                  <a:schemeClr val="tx1"/>
                </a:solidFill>
              </a:rPr>
              <a:t>% </a:t>
            </a:r>
            <a:r>
              <a:rPr lang="en-GB" sz="1600" b="1" dirty="0" err="1">
                <a:solidFill>
                  <a:schemeClr val="tx1"/>
                </a:solidFill>
              </a:rPr>
              <a:t>npm</a:t>
            </a:r>
            <a:r>
              <a:rPr lang="en-GB" sz="1600" b="1" dirty="0">
                <a:solidFill>
                  <a:schemeClr val="tx1"/>
                </a:solidFill>
              </a:rPr>
              <a:t> test</a:t>
            </a:r>
          </a:p>
          <a:p>
            <a:pPr>
              <a:buNone/>
            </a:pPr>
            <a:endParaRPr lang="en-GB" sz="1600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&gt; bowlinggamekata@1.0.0 test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&gt; 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sz="1600" dirty="0">
                <a:solidFill>
                  <a:srgbClr val="C00000"/>
                </a:solidFill>
              </a:rPr>
              <a:t>Failures:</a:t>
            </a:r>
          </a:p>
          <a:p>
            <a:pPr>
              <a:buNone/>
            </a:pPr>
            <a:r>
              <a:rPr lang="en-GB" sz="1600" dirty="0">
                <a:solidFill>
                  <a:srgbClr val="C00000"/>
                </a:solidFill>
              </a:rPr>
              <a:t>1) </a:t>
            </a:r>
            <a:r>
              <a:rPr lang="en-GB" sz="1600" b="1" dirty="0">
                <a:solidFill>
                  <a:srgbClr val="C00000"/>
                </a:solidFill>
              </a:rPr>
              <a:t>should return 20 for a game of all ones</a:t>
            </a:r>
          </a:p>
          <a:p>
            <a:pPr>
              <a:buNone/>
            </a:pPr>
            <a:r>
              <a:rPr lang="en-GB" sz="1600" dirty="0">
                <a:solidFill>
                  <a:srgbClr val="C00000"/>
                </a:solidFill>
              </a:rPr>
              <a:t>  Message:</a:t>
            </a:r>
          </a:p>
          <a:p>
            <a:pPr>
              <a:buNone/>
            </a:pPr>
            <a:r>
              <a:rPr lang="en-GB" sz="1600" dirty="0">
                <a:solidFill>
                  <a:srgbClr val="C00000"/>
                </a:solidFill>
              </a:rPr>
              <a:t>    Expected 0 to equal 20.</a:t>
            </a:r>
            <a:endParaRPr lang="en-GB" sz="1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3200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Second Test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AC2FD-2D53-D84D-AA5A-593A1BB15C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8194B-AE98-3D45-862E-4DAED2C22B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36C712-8020-9543-B025-5DBEB17ADA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25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2FBD22-5E0F-F64A-8B24-258228FE915D}"/>
              </a:ext>
            </a:extLst>
          </p:cNvPr>
          <p:cNvSpPr txBox="1"/>
          <p:nvPr/>
        </p:nvSpPr>
        <p:spPr>
          <a:xfrm>
            <a:off x="5795527" y="348343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Do the minimum to pass the test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7CCDAC-6A46-6232-DD8C-D3A38AB67851}"/>
              </a:ext>
            </a:extLst>
          </p:cNvPr>
          <p:cNvSpPr txBox="1"/>
          <p:nvPr/>
        </p:nvSpPr>
        <p:spPr>
          <a:xfrm>
            <a:off x="495300" y="1621756"/>
            <a:ext cx="5300228" cy="42780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// …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it('should return 20 for a game of all ones',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</a:t>
            </a:r>
            <a:r>
              <a:rPr lang="en-GB" sz="1600" dirty="0" err="1">
                <a:solidFill>
                  <a:schemeClr val="tx1"/>
                </a:solidFill>
              </a:rPr>
              <a:t>const</a:t>
            </a:r>
            <a:r>
              <a:rPr lang="en-GB" sz="1600" dirty="0">
                <a:solidFill>
                  <a:schemeClr val="tx1"/>
                </a:solidFill>
              </a:rPr>
              <a:t> game = new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();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for 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= 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&lt; 20;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++)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(1);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(20);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});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});</a:t>
            </a:r>
          </a:p>
          <a:p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089705-CE9A-D348-B913-17C10E7CC82B}"/>
              </a:ext>
            </a:extLst>
          </p:cNvPr>
          <p:cNvSpPr txBox="1"/>
          <p:nvPr/>
        </p:nvSpPr>
        <p:spPr>
          <a:xfrm>
            <a:off x="5795527" y="1708594"/>
            <a:ext cx="3910001" cy="32932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BowlingGame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pins;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GB" sz="160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785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Second Test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AC2FD-2D53-D84D-AA5A-593A1BB15C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8194B-AE98-3D45-862E-4DAED2C22B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36C712-8020-9543-B025-5DBEB17ADA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26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2FBD22-5E0F-F64A-8B24-258228FE915D}"/>
              </a:ext>
            </a:extLst>
          </p:cNvPr>
          <p:cNvSpPr txBox="1"/>
          <p:nvPr/>
        </p:nvSpPr>
        <p:spPr>
          <a:xfrm>
            <a:off x="5795527" y="348343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Do the minimum to pass the test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7CCDAC-6A46-6232-DD8C-D3A38AB67851}"/>
              </a:ext>
            </a:extLst>
          </p:cNvPr>
          <p:cNvSpPr txBox="1"/>
          <p:nvPr/>
        </p:nvSpPr>
        <p:spPr>
          <a:xfrm>
            <a:off x="495300" y="1621756"/>
            <a:ext cx="5300228" cy="42780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// …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it('should return 20 for a game of all ones',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</a:t>
            </a:r>
            <a:r>
              <a:rPr lang="en-GB" sz="1600" dirty="0" err="1">
                <a:solidFill>
                  <a:schemeClr val="tx1"/>
                </a:solidFill>
              </a:rPr>
              <a:t>const</a:t>
            </a:r>
            <a:r>
              <a:rPr lang="en-GB" sz="1600" dirty="0">
                <a:solidFill>
                  <a:schemeClr val="tx1"/>
                </a:solidFill>
              </a:rPr>
              <a:t> game = new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();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for 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= 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&lt; 20;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++)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(1);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(20);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});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});</a:t>
            </a:r>
          </a:p>
          <a:p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089705-CE9A-D348-B913-17C10E7CC82B}"/>
              </a:ext>
            </a:extLst>
          </p:cNvPr>
          <p:cNvSpPr txBox="1"/>
          <p:nvPr/>
        </p:nvSpPr>
        <p:spPr>
          <a:xfrm>
            <a:off x="6105128" y="1708594"/>
            <a:ext cx="3600400" cy="32932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BowlingGame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pins;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421E88-ABC7-9BD6-59E2-C8E36980D417}"/>
              </a:ext>
            </a:extLst>
          </p:cNvPr>
          <p:cNvSpPr txBox="1"/>
          <p:nvPr/>
        </p:nvSpPr>
        <p:spPr>
          <a:xfrm>
            <a:off x="4016896" y="3970907"/>
            <a:ext cx="3368905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>
                <a:solidFill>
                  <a:schemeClr val="tx1"/>
                </a:solidFill>
              </a:rPr>
              <a:t>% </a:t>
            </a:r>
            <a:r>
              <a:rPr lang="en-GB" sz="1600" b="1" dirty="0" err="1">
                <a:solidFill>
                  <a:schemeClr val="tx1"/>
                </a:solidFill>
              </a:rPr>
              <a:t>npm</a:t>
            </a:r>
            <a:r>
              <a:rPr lang="en-GB" sz="1600" b="1" dirty="0">
                <a:solidFill>
                  <a:schemeClr val="tx1"/>
                </a:solidFill>
              </a:rPr>
              <a:t> test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&gt; bowlingballgame@1.0.0 test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&gt; 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sz="1600" b="1" dirty="0">
                <a:solidFill>
                  <a:srgbClr val="00B050"/>
                </a:solidFill>
              </a:rPr>
              <a:t>..</a:t>
            </a:r>
          </a:p>
          <a:p>
            <a:pPr>
              <a:buNone/>
            </a:pPr>
            <a:endParaRPr lang="en-GB" sz="1600" b="1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GB" sz="1600" b="1" dirty="0">
                <a:solidFill>
                  <a:srgbClr val="00B050"/>
                </a:solidFill>
              </a:rPr>
              <a:t>2 specs, 0 failures</a:t>
            </a:r>
          </a:p>
          <a:p>
            <a:pPr>
              <a:buNone/>
            </a:pPr>
            <a:r>
              <a:rPr lang="en-GB" sz="1600" b="1" dirty="0">
                <a:solidFill>
                  <a:srgbClr val="00B050"/>
                </a:solidFill>
              </a:rPr>
              <a:t>Finished in 0.005 seconds</a:t>
            </a:r>
          </a:p>
        </p:txBody>
      </p:sp>
    </p:spTree>
    <p:extLst>
      <p:ext uri="{BB962C8B-B14F-4D97-AF65-F5344CB8AC3E}">
        <p14:creationId xmlns:p14="http://schemas.microsoft.com/office/powerpoint/2010/main" val="24842740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32CB99E-AEA3-E4DB-2EEA-4811D8CF0EC8}"/>
              </a:ext>
            </a:extLst>
          </p:cNvPr>
          <p:cNvSpPr txBox="1"/>
          <p:nvPr/>
        </p:nvSpPr>
        <p:spPr>
          <a:xfrm>
            <a:off x="6105128" y="1708594"/>
            <a:ext cx="3600400" cy="32932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BowlingGame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pins;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E445DA-E064-4A7A-361F-CCDD5E60F3DC}"/>
              </a:ext>
            </a:extLst>
          </p:cNvPr>
          <p:cNvSpPr txBox="1"/>
          <p:nvPr/>
        </p:nvSpPr>
        <p:spPr>
          <a:xfrm>
            <a:off x="495299" y="1621756"/>
            <a:ext cx="6033029" cy="42780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// …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it('should return 20 for a game of all ones',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</a:t>
            </a:r>
            <a:r>
              <a:rPr lang="en-GB" sz="1600" dirty="0" err="1">
                <a:solidFill>
                  <a:schemeClr val="tx1"/>
                </a:solidFill>
              </a:rPr>
              <a:t>const</a:t>
            </a:r>
            <a:r>
              <a:rPr lang="en-GB" sz="1600" dirty="0">
                <a:solidFill>
                  <a:schemeClr val="tx1"/>
                </a:solidFill>
              </a:rPr>
              <a:t> game = new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();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for 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= 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&lt; 20;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++)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(1);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(20);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});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});</a:t>
            </a:r>
          </a:p>
          <a:p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Second Test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0146ECA-9E5C-AE47-842A-428793AFD1B2}"/>
              </a:ext>
            </a:extLst>
          </p:cNvPr>
          <p:cNvSpPr/>
          <p:nvPr/>
        </p:nvSpPr>
        <p:spPr bwMode="auto">
          <a:xfrm>
            <a:off x="1124897" y="3760803"/>
            <a:ext cx="4536504" cy="1049905"/>
          </a:xfrm>
          <a:prstGeom prst="roundRect">
            <a:avLst/>
          </a:prstGeom>
          <a:noFill/>
          <a:ln w="349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4A9C967A-6761-F04C-B6DC-A69318417E7A}"/>
              </a:ext>
            </a:extLst>
          </p:cNvPr>
          <p:cNvSpPr/>
          <p:nvPr/>
        </p:nvSpPr>
        <p:spPr bwMode="auto">
          <a:xfrm>
            <a:off x="6209581" y="5125627"/>
            <a:ext cx="2665156" cy="925938"/>
          </a:xfrm>
          <a:prstGeom prst="wedgeRoundRectCallout">
            <a:avLst>
              <a:gd name="adj1" fmla="val -108190"/>
              <a:gd name="adj2" fmla="val -46450"/>
              <a:gd name="adj3" fmla="val 16667"/>
            </a:avLst>
          </a:prstGeom>
          <a:solidFill>
            <a:srgbClr val="C8C8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Game creation is duplicated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Roll loop is duplicated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2BBA9-66AE-B54D-8F78-F92434CCC05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696B-4F8B-5F4D-8608-61912AD91C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E865CE9-5EDD-8948-A60C-36E8EB3C42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27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478C58-6BAB-EC41-8E6B-E82D054929E6}"/>
              </a:ext>
            </a:extLst>
          </p:cNvPr>
          <p:cNvSpPr txBox="1"/>
          <p:nvPr/>
        </p:nvSpPr>
        <p:spPr>
          <a:xfrm>
            <a:off x="5660875" y="348343"/>
            <a:ext cx="36984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i="1" dirty="0">
                <a:solidFill>
                  <a:srgbClr val="0000FF"/>
                </a:solidFill>
              </a:rPr>
              <a:t>Refactor your code as necessary -</a:t>
            </a:r>
          </a:p>
          <a:p>
            <a:pPr algn="ctr"/>
            <a:r>
              <a:rPr lang="en-GB" i="1" dirty="0">
                <a:solidFill>
                  <a:srgbClr val="0000FF"/>
                </a:solidFill>
              </a:rPr>
              <a:t>Both tests and production code!</a:t>
            </a:r>
          </a:p>
        </p:txBody>
      </p:sp>
    </p:spTree>
    <p:extLst>
      <p:ext uri="{BB962C8B-B14F-4D97-AF65-F5344CB8AC3E}">
        <p14:creationId xmlns:p14="http://schemas.microsoft.com/office/powerpoint/2010/main" val="41604262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7EEC48-CB4D-64E7-2537-91DB070822FF}"/>
              </a:ext>
            </a:extLst>
          </p:cNvPr>
          <p:cNvSpPr txBox="1"/>
          <p:nvPr/>
        </p:nvSpPr>
        <p:spPr>
          <a:xfrm>
            <a:off x="6393160" y="1708594"/>
            <a:ext cx="3312368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BowlingGame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pins;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136" y="573644"/>
            <a:ext cx="8913681" cy="486890"/>
          </a:xfrm>
        </p:spPr>
        <p:txBody>
          <a:bodyPr/>
          <a:lstStyle/>
          <a:p>
            <a:r>
              <a:rPr lang="en-US" dirty="0"/>
              <a:t>The Second Test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3565C-4121-5440-9618-777B2D7C267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DDE19-42DE-6644-B606-A50DE6A8A49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45442-7FD8-AB4F-A1D1-53626CF296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28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B9B718-F50B-F444-8A41-68B43A12CA3F}"/>
              </a:ext>
            </a:extLst>
          </p:cNvPr>
          <p:cNvSpPr txBox="1"/>
          <p:nvPr/>
        </p:nvSpPr>
        <p:spPr>
          <a:xfrm>
            <a:off x="6122539" y="388978"/>
            <a:ext cx="2839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Handle initial game set up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8E2D06-B014-2A8A-A301-C8EF5E178D75}"/>
              </a:ext>
            </a:extLst>
          </p:cNvPr>
          <p:cNvSpPr txBox="1"/>
          <p:nvPr/>
        </p:nvSpPr>
        <p:spPr>
          <a:xfrm>
            <a:off x="446413" y="1245200"/>
            <a:ext cx="6033029" cy="6740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let game;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(()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game = new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();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function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(rolls, pins)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it('should return 0 for a game of all zeros', () =&gt; {</a:t>
            </a:r>
          </a:p>
          <a:p>
            <a:pPr lvl="1"/>
            <a:r>
              <a:rPr lang="en-GB" sz="1600" dirty="0">
                <a:solidFill>
                  <a:schemeClr val="tx1"/>
                </a:solidFill>
              </a:rPr>
              <a:t>for 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= 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&lt; rolls;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++) {</a:t>
            </a:r>
          </a:p>
          <a:p>
            <a:pPr lvl="1"/>
            <a:r>
              <a:rPr lang="en-GB" sz="1600" dirty="0">
                <a:solidFill>
                  <a:schemeClr val="tx1"/>
                </a:solidFill>
              </a:rPr>
              <a:t>  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(pins);</a:t>
            </a:r>
          </a:p>
          <a:p>
            <a:pPr lvl="1"/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(0);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it('should return 20 for a game of all ones', () =&gt; {</a:t>
            </a:r>
          </a:p>
          <a:p>
            <a:pPr lvl="1"/>
            <a:r>
              <a:rPr lang="en-GB" sz="1600" dirty="0">
                <a:solidFill>
                  <a:schemeClr val="tx1"/>
                </a:solidFill>
              </a:rPr>
              <a:t>    for 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= 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&lt; rolls;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++) {</a:t>
            </a:r>
          </a:p>
          <a:p>
            <a:pPr lvl="1"/>
            <a:r>
              <a:rPr lang="en-GB" sz="1600" dirty="0">
                <a:solidFill>
                  <a:schemeClr val="tx1"/>
                </a:solidFill>
              </a:rPr>
              <a:t>  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(pins);</a:t>
            </a:r>
          </a:p>
          <a:p>
            <a:pPr lvl="1"/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(20);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5929550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73068-7628-3CC2-AD08-5EFDF2BB5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B631DD-992C-6845-28FF-81D17920CAFD}"/>
              </a:ext>
            </a:extLst>
          </p:cNvPr>
          <p:cNvSpPr txBox="1"/>
          <p:nvPr/>
        </p:nvSpPr>
        <p:spPr>
          <a:xfrm>
            <a:off x="6393160" y="1708594"/>
            <a:ext cx="3312368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BowlingGame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pins;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08404C7D-2CAD-762C-3B71-C25DB1B464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136" y="573644"/>
            <a:ext cx="8913681" cy="486890"/>
          </a:xfrm>
        </p:spPr>
        <p:txBody>
          <a:bodyPr/>
          <a:lstStyle/>
          <a:p>
            <a:r>
              <a:rPr lang="en-US" dirty="0"/>
              <a:t>The Second Test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A55A1-900E-5F3F-8A27-4923BB84BF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AC51F-7DE7-8EB3-D47B-DB2AFF29A70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8EA728-5D06-3F5A-5491-92641CA73B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29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4F98BE-BE75-4776-4677-7A40C4017F79}"/>
              </a:ext>
            </a:extLst>
          </p:cNvPr>
          <p:cNvSpPr txBox="1"/>
          <p:nvPr/>
        </p:nvSpPr>
        <p:spPr>
          <a:xfrm>
            <a:off x="6122539" y="388978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Check tests still pass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63ABBD-CDFB-3BF6-434D-00104E047F08}"/>
              </a:ext>
            </a:extLst>
          </p:cNvPr>
          <p:cNvSpPr txBox="1"/>
          <p:nvPr/>
        </p:nvSpPr>
        <p:spPr>
          <a:xfrm>
            <a:off x="446413" y="1245200"/>
            <a:ext cx="6033029" cy="64940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let game;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(()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game = new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();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function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(rolls, pins)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for 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= 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&lt; rolls;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(pins);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it('should return 0 for a game of all zeros',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(20, 0);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(0);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it('should return 20 for a game of all ones',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(20, 1);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(20);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});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DB275A-0253-A994-CFA4-DF928E8D6A7C}"/>
              </a:ext>
            </a:extLst>
          </p:cNvPr>
          <p:cNvSpPr txBox="1"/>
          <p:nvPr/>
        </p:nvSpPr>
        <p:spPr>
          <a:xfrm>
            <a:off x="4016896" y="3970907"/>
            <a:ext cx="3368905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>
                <a:solidFill>
                  <a:schemeClr val="tx1"/>
                </a:solidFill>
              </a:rPr>
              <a:t>% </a:t>
            </a:r>
            <a:r>
              <a:rPr lang="en-GB" sz="1600" b="1" dirty="0" err="1">
                <a:solidFill>
                  <a:schemeClr val="tx1"/>
                </a:solidFill>
              </a:rPr>
              <a:t>npm</a:t>
            </a:r>
            <a:r>
              <a:rPr lang="en-GB" sz="1600" b="1" dirty="0">
                <a:solidFill>
                  <a:schemeClr val="tx1"/>
                </a:solidFill>
              </a:rPr>
              <a:t> test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&gt; bowlingballgame@1.0.0 test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&gt; 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sz="1600" b="1" dirty="0">
                <a:solidFill>
                  <a:srgbClr val="00B050"/>
                </a:solidFill>
              </a:rPr>
              <a:t>..</a:t>
            </a:r>
          </a:p>
          <a:p>
            <a:pPr>
              <a:buNone/>
            </a:pPr>
            <a:endParaRPr lang="en-GB" sz="1600" b="1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GB" sz="1600" b="1" dirty="0">
                <a:solidFill>
                  <a:srgbClr val="00B050"/>
                </a:solidFill>
              </a:rPr>
              <a:t>2 specs, 0 failures</a:t>
            </a:r>
          </a:p>
          <a:p>
            <a:pPr>
              <a:buNone/>
            </a:pPr>
            <a:r>
              <a:rPr lang="en-GB" sz="1600" b="1" dirty="0">
                <a:solidFill>
                  <a:srgbClr val="00B050"/>
                </a:solidFill>
              </a:rPr>
              <a:t>Finished in 0.005 seconds</a:t>
            </a:r>
          </a:p>
        </p:txBody>
      </p:sp>
    </p:spTree>
    <p:extLst>
      <p:ext uri="{BB962C8B-B14F-4D97-AF65-F5344CB8AC3E}">
        <p14:creationId xmlns:p14="http://schemas.microsoft.com/office/powerpoint/2010/main" val="24161175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3032EAD-4604-114D-595B-6BE99B923EBD}"/>
              </a:ext>
            </a:extLst>
          </p:cNvPr>
          <p:cNvSpPr txBox="1"/>
          <p:nvPr/>
        </p:nvSpPr>
        <p:spPr>
          <a:xfrm>
            <a:off x="6393160" y="1708594"/>
            <a:ext cx="3312368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BowlingGame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pins;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561330"/>
            <a:ext cx="8913681" cy="486890"/>
          </a:xfrm>
        </p:spPr>
        <p:txBody>
          <a:bodyPr/>
          <a:lstStyle/>
          <a:p>
            <a:r>
              <a:rPr lang="en-US" dirty="0"/>
              <a:t>The Second Test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685800" y="1295400"/>
            <a:ext cx="4038600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import junit.framework.TestCase;</a:t>
            </a:r>
          </a:p>
          <a:p>
            <a:endParaRPr lang="en-US" sz="900"/>
          </a:p>
          <a:p>
            <a:r>
              <a:rPr lang="en-US" sz="900"/>
              <a:t>public class BowlingGameTest extends TestCase {</a:t>
            </a:r>
          </a:p>
          <a:p>
            <a:r>
              <a:rPr lang="en-US" sz="900"/>
              <a:t>  public void testGutterGame()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g.roll(0);</a:t>
            </a:r>
          </a:p>
          <a:p>
            <a:r>
              <a:rPr lang="en-US" sz="900"/>
              <a:t>    assertEquals(0, g.score());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void testAllOnes()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g.roll(1);</a:t>
            </a:r>
          </a:p>
          <a:p>
            <a:r>
              <a:rPr lang="en-US" sz="900"/>
              <a:t>    assertEquals(20, g.score());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4D68F1-BA7C-8B46-B860-36335929F7E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1C516E-8A40-4E4D-9F30-EE11130A44E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04A74D-19B3-BE44-A6D9-9F60813E5C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30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5E2405-5B9C-5542-909C-C472462D33E6}"/>
              </a:ext>
            </a:extLst>
          </p:cNvPr>
          <p:cNvSpPr txBox="1"/>
          <p:nvPr/>
        </p:nvSpPr>
        <p:spPr>
          <a:xfrm>
            <a:off x="6122539" y="388978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Check tests still pass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21E5A3-4D8E-5F9A-B2E6-F45383DE11B9}"/>
              </a:ext>
            </a:extLst>
          </p:cNvPr>
          <p:cNvSpPr txBox="1"/>
          <p:nvPr/>
        </p:nvSpPr>
        <p:spPr>
          <a:xfrm>
            <a:off x="461804" y="1348032"/>
            <a:ext cx="6033029" cy="52629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 err="1">
                <a:solidFill>
                  <a:schemeClr val="tx1"/>
                </a:solidFill>
              </a:rPr>
              <a:t>const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= require("../</a:t>
            </a:r>
            <a:r>
              <a:rPr lang="en-GB" sz="1600" dirty="0" err="1">
                <a:solidFill>
                  <a:schemeClr val="tx1"/>
                </a:solidFill>
              </a:rPr>
              <a:t>bowlingball-game.js</a:t>
            </a:r>
            <a:r>
              <a:rPr lang="en-GB" sz="1600" dirty="0">
                <a:solidFill>
                  <a:schemeClr val="tx1"/>
                </a:solidFill>
              </a:rPr>
              <a:t>");</a:t>
            </a:r>
          </a:p>
          <a:p>
            <a:endParaRPr lang="en-GB" sz="1600" dirty="0">
              <a:solidFill>
                <a:srgbClr val="0000FF"/>
              </a:solidFill>
            </a:endParaRPr>
          </a:p>
          <a:p>
            <a:r>
              <a:rPr lang="en-GB" sz="1600" b="1" dirty="0">
                <a:solidFill>
                  <a:srgbClr val="0000FF"/>
                </a:solidFill>
              </a:rPr>
              <a:t>let</a:t>
            </a:r>
            <a:r>
              <a:rPr lang="en-GB" sz="1600" dirty="0">
                <a:solidFill>
                  <a:srgbClr val="0000FF"/>
                </a:solidFill>
              </a:rPr>
              <a:t> game;</a:t>
            </a:r>
          </a:p>
          <a:p>
            <a:br>
              <a:rPr lang="en-GB" sz="1600" dirty="0">
                <a:solidFill>
                  <a:srgbClr val="0000FF"/>
                </a:solidFill>
              </a:rPr>
            </a:br>
            <a:r>
              <a:rPr lang="en-GB" sz="1600" dirty="0" err="1">
                <a:solidFill>
                  <a:srgbClr val="0000FF"/>
                </a:solidFill>
              </a:rPr>
              <a:t>beforeEach</a:t>
            </a:r>
            <a:r>
              <a:rPr lang="en-GB" sz="1600" dirty="0">
                <a:solidFill>
                  <a:srgbClr val="0000FF"/>
                </a:solidFill>
              </a:rPr>
              <a:t>(()=&gt;{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game = new </a:t>
            </a:r>
            <a:r>
              <a:rPr lang="en-GB" sz="1600" dirty="0" err="1">
                <a:solidFill>
                  <a:srgbClr val="0000FF"/>
                </a:solidFill>
              </a:rPr>
              <a:t>BowlingGame</a:t>
            </a:r>
            <a:r>
              <a:rPr lang="en-GB" sz="1600" dirty="0">
                <a:solidFill>
                  <a:srgbClr val="0000FF"/>
                </a:solidFill>
              </a:rPr>
              <a:t>(); //create new game</a:t>
            </a:r>
          </a:p>
          <a:p>
            <a:r>
              <a:rPr lang="en-GB" sz="1600" dirty="0">
                <a:solidFill>
                  <a:srgbClr val="0000FF"/>
                </a:solidFill>
              </a:rPr>
              <a:t>});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b="1" dirty="0">
                <a:solidFill>
                  <a:schemeClr val="tx1"/>
                </a:solidFill>
              </a:rPr>
              <a:t>it</a:t>
            </a:r>
            <a:r>
              <a:rPr lang="en-GB" sz="1600" dirty="0">
                <a:solidFill>
                  <a:schemeClr val="tx1"/>
                </a:solidFill>
              </a:rPr>
              <a:t>('should return 0 for a game of all zeros',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b="1" dirty="0">
                <a:solidFill>
                  <a:schemeClr val="tx1"/>
                </a:solidFill>
              </a:rPr>
              <a:t>for</a:t>
            </a:r>
            <a:r>
              <a:rPr lang="en-GB" sz="1600" dirty="0">
                <a:solidFill>
                  <a:schemeClr val="tx1"/>
                </a:solidFill>
              </a:rPr>
              <a:t>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=0;i&lt;20;i++){ //for 20 rolls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(0); //roll a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toEqual</a:t>
            </a:r>
            <a:r>
              <a:rPr lang="en-GB" sz="1600" dirty="0">
                <a:solidFill>
                  <a:schemeClr val="tx1"/>
                </a:solidFill>
              </a:rPr>
              <a:t>(0); //check that the score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})</a:t>
            </a:r>
          </a:p>
          <a:p>
            <a:endParaRPr lang="en-GB" sz="1600" b="1" dirty="0">
              <a:solidFill>
                <a:schemeClr val="tx1"/>
              </a:solidFill>
            </a:endParaRPr>
          </a:p>
          <a:p>
            <a:r>
              <a:rPr lang="en-GB" sz="1600" b="1" dirty="0">
                <a:solidFill>
                  <a:schemeClr val="tx1"/>
                </a:solidFill>
              </a:rPr>
              <a:t>it</a:t>
            </a:r>
            <a:r>
              <a:rPr lang="en-GB" sz="1600" dirty="0">
                <a:solidFill>
                  <a:schemeClr val="tx1"/>
                </a:solidFill>
              </a:rPr>
              <a:t>('should return 20 for a game of all ones',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b="1" dirty="0">
                <a:solidFill>
                  <a:schemeClr val="tx1"/>
                </a:solidFill>
              </a:rPr>
              <a:t>for</a:t>
            </a:r>
            <a:r>
              <a:rPr lang="en-GB" sz="1600" dirty="0">
                <a:solidFill>
                  <a:schemeClr val="tx1"/>
                </a:solidFill>
              </a:rPr>
              <a:t>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=0;i&lt;20;i++){ //for 20 rolls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(1); //roll a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b="1" dirty="0">
                <a:solidFill>
                  <a:schemeClr val="tx1"/>
                </a:solidFill>
              </a:rPr>
              <a:t>expect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b="1" dirty="0" err="1">
                <a:solidFill>
                  <a:schemeClr val="tx1"/>
                </a:solidFill>
              </a:rPr>
              <a:t>toEqual</a:t>
            </a:r>
            <a:r>
              <a:rPr lang="en-GB" sz="1600" dirty="0">
                <a:solidFill>
                  <a:schemeClr val="tx1"/>
                </a:solidFill>
              </a:rPr>
              <a:t>(20); //check that the score = 20</a:t>
            </a:r>
          </a:p>
          <a:p>
            <a:r>
              <a:rPr lang="en-GB" sz="1600" dirty="0">
                <a:solidFill>
                  <a:schemeClr val="tx1"/>
                </a:solidFill>
              </a:rPr>
              <a:t>})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E43D39-E251-FE62-B114-E07E6366225E}"/>
              </a:ext>
            </a:extLst>
          </p:cNvPr>
          <p:cNvSpPr txBox="1"/>
          <p:nvPr/>
        </p:nvSpPr>
        <p:spPr>
          <a:xfrm>
            <a:off x="6341066" y="4899362"/>
            <a:ext cx="3067915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npm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bowlinggamekata@1.0.0 test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vitest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specs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0 failures</a:t>
            </a:r>
          </a:p>
        </p:txBody>
      </p:sp>
    </p:spTree>
    <p:extLst>
      <p:ext uri="{BB962C8B-B14F-4D97-AF65-F5344CB8AC3E}">
        <p14:creationId xmlns:p14="http://schemas.microsoft.com/office/powerpoint/2010/main" val="17299149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DFF3C38-D53C-81FD-697F-E2432DD32452}"/>
              </a:ext>
            </a:extLst>
          </p:cNvPr>
          <p:cNvSpPr txBox="1"/>
          <p:nvPr/>
        </p:nvSpPr>
        <p:spPr>
          <a:xfrm>
            <a:off x="6393160" y="1708594"/>
            <a:ext cx="3312368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BowlingGame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pins;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BC6F52-22EB-9B72-3773-EE7A80FF751F}"/>
              </a:ext>
            </a:extLst>
          </p:cNvPr>
          <p:cNvSpPr txBox="1"/>
          <p:nvPr/>
        </p:nvSpPr>
        <p:spPr>
          <a:xfrm>
            <a:off x="461804" y="1348032"/>
            <a:ext cx="6033029" cy="50167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GB" sz="1600" dirty="0">
              <a:solidFill>
                <a:srgbClr val="0000FF"/>
              </a:solidFill>
            </a:endParaRPr>
          </a:p>
          <a:p>
            <a:r>
              <a:rPr lang="en-GB" sz="1600" b="1" dirty="0">
                <a:solidFill>
                  <a:schemeClr val="tx1"/>
                </a:solidFill>
              </a:rPr>
              <a:t>let</a:t>
            </a:r>
            <a:r>
              <a:rPr lang="en-GB" sz="1600" dirty="0">
                <a:solidFill>
                  <a:schemeClr val="tx1"/>
                </a:solidFill>
              </a:rPr>
              <a:t> game;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(()=&gt;{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game = new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(); //create new game</a:t>
            </a:r>
          </a:p>
          <a:p>
            <a:r>
              <a:rPr lang="en-GB" sz="1600" dirty="0">
                <a:solidFill>
                  <a:schemeClr val="tx1"/>
                </a:solidFill>
              </a:rPr>
              <a:t>});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b="1" dirty="0">
                <a:solidFill>
                  <a:schemeClr val="tx1"/>
                </a:solidFill>
              </a:rPr>
              <a:t>it</a:t>
            </a:r>
            <a:r>
              <a:rPr lang="en-GB" sz="1600" dirty="0">
                <a:solidFill>
                  <a:schemeClr val="tx1"/>
                </a:solidFill>
              </a:rPr>
              <a:t>('should return 0 for a game of all zeros',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b="1" dirty="0">
                <a:solidFill>
                  <a:schemeClr val="tx1"/>
                </a:solidFill>
              </a:rPr>
              <a:t>for</a:t>
            </a:r>
            <a:r>
              <a:rPr lang="en-GB" sz="1600" dirty="0">
                <a:solidFill>
                  <a:schemeClr val="tx1"/>
                </a:solidFill>
              </a:rPr>
              <a:t>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=0;i&lt;20;i++){ //for 20 rolls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(0); //roll a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toEqual</a:t>
            </a:r>
            <a:r>
              <a:rPr lang="en-GB" sz="1600" dirty="0">
                <a:solidFill>
                  <a:schemeClr val="tx1"/>
                </a:solidFill>
              </a:rPr>
              <a:t>(0); //check that the score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})</a:t>
            </a:r>
          </a:p>
          <a:p>
            <a:endParaRPr lang="en-GB" sz="1600" b="1" dirty="0">
              <a:solidFill>
                <a:schemeClr val="tx1"/>
              </a:solidFill>
            </a:endParaRPr>
          </a:p>
          <a:p>
            <a:r>
              <a:rPr lang="en-GB" sz="1600" b="1" dirty="0">
                <a:solidFill>
                  <a:schemeClr val="tx1"/>
                </a:solidFill>
              </a:rPr>
              <a:t>it</a:t>
            </a:r>
            <a:r>
              <a:rPr lang="en-GB" sz="1600" dirty="0">
                <a:solidFill>
                  <a:schemeClr val="tx1"/>
                </a:solidFill>
              </a:rPr>
              <a:t>('should return 20 for a game of all ones',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b="1" dirty="0">
                <a:solidFill>
                  <a:schemeClr val="tx1"/>
                </a:solidFill>
              </a:rPr>
              <a:t>for</a:t>
            </a:r>
            <a:r>
              <a:rPr lang="en-GB" sz="1600" dirty="0">
                <a:solidFill>
                  <a:schemeClr val="tx1"/>
                </a:solidFill>
              </a:rPr>
              <a:t>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=0;i&lt;20;i++){ //for 20 rolls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(1); //roll a 1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b="1" dirty="0">
                <a:solidFill>
                  <a:schemeClr val="tx1"/>
                </a:solidFill>
              </a:rPr>
              <a:t>expect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b="1" dirty="0" err="1">
                <a:solidFill>
                  <a:schemeClr val="tx1"/>
                </a:solidFill>
              </a:rPr>
              <a:t>toEqual</a:t>
            </a:r>
            <a:r>
              <a:rPr lang="en-GB" sz="1600" dirty="0">
                <a:solidFill>
                  <a:schemeClr val="tx1"/>
                </a:solidFill>
              </a:rPr>
              <a:t>(20); //check that the score = 20</a:t>
            </a:r>
          </a:p>
          <a:p>
            <a:r>
              <a:rPr lang="en-GB" sz="1600" dirty="0">
                <a:solidFill>
                  <a:schemeClr val="tx1"/>
                </a:solidFill>
              </a:rPr>
              <a:t>})</a:t>
            </a: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Second Test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0146ECA-9E5C-AE47-842A-428793AFD1B2}"/>
              </a:ext>
            </a:extLst>
          </p:cNvPr>
          <p:cNvSpPr/>
          <p:nvPr/>
        </p:nvSpPr>
        <p:spPr bwMode="auto">
          <a:xfrm>
            <a:off x="685625" y="5030130"/>
            <a:ext cx="3135179" cy="720079"/>
          </a:xfrm>
          <a:prstGeom prst="roundRect">
            <a:avLst/>
          </a:prstGeom>
          <a:noFill/>
          <a:ln w="349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4A9C967A-6761-F04C-B6DC-A69318417E7A}"/>
              </a:ext>
            </a:extLst>
          </p:cNvPr>
          <p:cNvSpPr/>
          <p:nvPr/>
        </p:nvSpPr>
        <p:spPr bwMode="auto">
          <a:xfrm>
            <a:off x="4142354" y="4624943"/>
            <a:ext cx="2260820" cy="409852"/>
          </a:xfrm>
          <a:prstGeom prst="wedgeRoundRectCallout">
            <a:avLst>
              <a:gd name="adj1" fmla="val -83691"/>
              <a:gd name="adj2" fmla="val 204202"/>
              <a:gd name="adj3" fmla="val 16667"/>
            </a:avLst>
          </a:prstGeom>
          <a:solidFill>
            <a:srgbClr val="C8C8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Roll loop is duplicated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45534-37BE-8945-9739-B9F6AF31FD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3B53B-798A-0D43-AA20-A3DD0CC9E6A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CC506-BA37-2641-AD52-EE2BE40344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31</a:t>
            </a:fld>
            <a:endParaRPr lang="en-GB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634364E-D881-8741-822B-A524CB9E760E}"/>
              </a:ext>
            </a:extLst>
          </p:cNvPr>
          <p:cNvSpPr/>
          <p:nvPr/>
        </p:nvSpPr>
        <p:spPr bwMode="auto">
          <a:xfrm>
            <a:off x="665690" y="3284984"/>
            <a:ext cx="3135179" cy="720080"/>
          </a:xfrm>
          <a:prstGeom prst="roundRect">
            <a:avLst/>
          </a:prstGeom>
          <a:noFill/>
          <a:ln w="349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DFDA2B93-7AFF-7342-B899-A799A7659C28}"/>
              </a:ext>
            </a:extLst>
          </p:cNvPr>
          <p:cNvSpPr/>
          <p:nvPr/>
        </p:nvSpPr>
        <p:spPr bwMode="auto">
          <a:xfrm>
            <a:off x="4157696" y="4620278"/>
            <a:ext cx="2278312" cy="409852"/>
          </a:xfrm>
          <a:prstGeom prst="wedgeRoundRectCallout">
            <a:avLst>
              <a:gd name="adj1" fmla="val -83179"/>
              <a:gd name="adj2" fmla="val -184697"/>
              <a:gd name="adj3" fmla="val 16667"/>
            </a:avLst>
          </a:prstGeom>
          <a:solidFill>
            <a:srgbClr val="C8C8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Roll loop is duplicated</a:t>
            </a:r>
          </a:p>
        </p:txBody>
      </p:sp>
    </p:spTree>
    <p:extLst>
      <p:ext uri="{BB962C8B-B14F-4D97-AF65-F5344CB8AC3E}">
        <p14:creationId xmlns:p14="http://schemas.microsoft.com/office/powerpoint/2010/main" val="18697347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Second Test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D2FBD-31BC-8349-B2E6-348BBD303FB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87ED77B-FE76-4F49-ACEC-531554BC71A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EBD0D12-553B-7642-9C58-24428773B4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32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B3BFB7-5642-CD40-B1BE-D660551EF2F5}"/>
              </a:ext>
            </a:extLst>
          </p:cNvPr>
          <p:cNvSpPr txBox="1"/>
          <p:nvPr/>
        </p:nvSpPr>
        <p:spPr>
          <a:xfrm>
            <a:off x="6164166" y="158958"/>
            <a:ext cx="3741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Provide a utility function / Method to handle rolls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3E1840-545B-7FBF-1655-B1621E536B7D}"/>
              </a:ext>
            </a:extLst>
          </p:cNvPr>
          <p:cNvSpPr txBox="1"/>
          <p:nvPr/>
        </p:nvSpPr>
        <p:spPr>
          <a:xfrm>
            <a:off x="6393160" y="1708594"/>
            <a:ext cx="3312368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BowlingGame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pins;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E9944C-A4D0-BDC5-8F14-5E7FD8DA4FAA}"/>
              </a:ext>
            </a:extLst>
          </p:cNvPr>
          <p:cNvSpPr txBox="1"/>
          <p:nvPr/>
        </p:nvSpPr>
        <p:spPr>
          <a:xfrm>
            <a:off x="428229" y="845874"/>
            <a:ext cx="6033029" cy="64940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let game;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(()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game = new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();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rgbClr val="0000FF"/>
                </a:solidFill>
              </a:rPr>
              <a:t>  function </a:t>
            </a:r>
            <a:r>
              <a:rPr lang="en-GB" sz="1600" dirty="0" err="1">
                <a:solidFill>
                  <a:srgbClr val="0000FF"/>
                </a:solidFill>
              </a:rPr>
              <a:t>rollMany</a:t>
            </a:r>
            <a:r>
              <a:rPr lang="en-GB" sz="1600" dirty="0">
                <a:solidFill>
                  <a:srgbClr val="0000FF"/>
                </a:solidFill>
              </a:rPr>
              <a:t>(rolls, pins) {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for (let </a:t>
            </a:r>
            <a:r>
              <a:rPr lang="en-GB" sz="1600" dirty="0" err="1">
                <a:solidFill>
                  <a:srgbClr val="0000FF"/>
                </a:solidFill>
              </a:rPr>
              <a:t>i</a:t>
            </a:r>
            <a:r>
              <a:rPr lang="en-GB" sz="1600" dirty="0">
                <a:solidFill>
                  <a:srgbClr val="0000FF"/>
                </a:solidFill>
              </a:rPr>
              <a:t> = 0; </a:t>
            </a:r>
            <a:r>
              <a:rPr lang="en-GB" sz="1600" dirty="0" err="1">
                <a:solidFill>
                  <a:srgbClr val="0000FF"/>
                </a:solidFill>
              </a:rPr>
              <a:t>i</a:t>
            </a:r>
            <a:r>
              <a:rPr lang="en-GB" sz="1600" dirty="0">
                <a:solidFill>
                  <a:srgbClr val="0000FF"/>
                </a:solidFill>
              </a:rPr>
              <a:t> &lt; rolls; </a:t>
            </a:r>
            <a:r>
              <a:rPr lang="en-GB" sz="1600" dirty="0" err="1">
                <a:solidFill>
                  <a:srgbClr val="0000FF"/>
                </a:solidFill>
              </a:rPr>
              <a:t>i</a:t>
            </a:r>
            <a:r>
              <a:rPr lang="en-GB" sz="1600" dirty="0">
                <a:solidFill>
                  <a:srgbClr val="0000FF"/>
                </a:solidFill>
              </a:rPr>
              <a:t>++) {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  </a:t>
            </a:r>
            <a:r>
              <a:rPr lang="en-GB" sz="1600" dirty="0" err="1">
                <a:solidFill>
                  <a:srgbClr val="0000FF"/>
                </a:solidFill>
              </a:rPr>
              <a:t>game.roll</a:t>
            </a:r>
            <a:r>
              <a:rPr lang="en-GB" sz="1600" dirty="0">
                <a:solidFill>
                  <a:srgbClr val="0000FF"/>
                </a:solidFill>
              </a:rPr>
              <a:t>(pins);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it('should return 0 for a game of all zeros',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rgbClr val="0000FF"/>
                </a:solidFill>
              </a:rPr>
              <a:t>rollMany</a:t>
            </a:r>
            <a:r>
              <a:rPr lang="en-GB" sz="1600" dirty="0">
                <a:solidFill>
                  <a:srgbClr val="0000FF"/>
                </a:solidFill>
              </a:rPr>
              <a:t>(20, 0);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(0);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it('should return 20 for a game of all ones',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rgbClr val="0000FF"/>
                </a:solidFill>
              </a:rPr>
              <a:t>rollMany</a:t>
            </a:r>
            <a:r>
              <a:rPr lang="en-GB" sz="1600" dirty="0">
                <a:solidFill>
                  <a:srgbClr val="0000FF"/>
                </a:solidFill>
              </a:rPr>
              <a:t>(20, 1);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(20);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42720379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685800" y="1295400"/>
            <a:ext cx="4038600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import junit.framework.TestCase;</a:t>
            </a:r>
          </a:p>
          <a:p>
            <a:endParaRPr lang="en-US" sz="900"/>
          </a:p>
          <a:p>
            <a:r>
              <a:rPr lang="en-US" sz="900"/>
              <a:t>public class BowlingGameTest extends TestCase {</a:t>
            </a:r>
          </a:p>
          <a:p>
            <a:r>
              <a:rPr lang="en-US" sz="900"/>
              <a:t>  public void testGutterGame()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g.roll(0);</a:t>
            </a:r>
          </a:p>
          <a:p>
            <a:r>
              <a:rPr lang="en-US" sz="900"/>
              <a:t>    assertEquals(0, g.score());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void testAllOnes()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g.roll(1);</a:t>
            </a:r>
          </a:p>
          <a:p>
            <a:r>
              <a:rPr lang="en-US" sz="900"/>
              <a:t>    assertEquals(20, g.score());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90AE36-74B1-F44A-A13B-11DD8EF21B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54EAD8-D465-B84E-931B-FA2D82E2FF7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4C8B25-DE7A-9D46-994D-5F901E1B32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33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80D38A-A812-F749-A60A-61368AB6183D}"/>
              </a:ext>
            </a:extLst>
          </p:cNvPr>
          <p:cNvSpPr txBox="1"/>
          <p:nvPr/>
        </p:nvSpPr>
        <p:spPr>
          <a:xfrm>
            <a:off x="6537516" y="383721"/>
            <a:ext cx="31390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Identify next test - </a:t>
            </a:r>
          </a:p>
          <a:p>
            <a:r>
              <a:rPr lang="en-GB" i="1" dirty="0">
                <a:solidFill>
                  <a:srgbClr val="0000FF"/>
                </a:solidFill>
              </a:rPr>
              <a:t>One with a spare in 1</a:t>
            </a:r>
            <a:r>
              <a:rPr lang="en-GB" i="1" baseline="30000" dirty="0">
                <a:solidFill>
                  <a:srgbClr val="0000FF"/>
                </a:solidFill>
              </a:rPr>
              <a:t>st</a:t>
            </a:r>
            <a:r>
              <a:rPr lang="en-GB" i="1" dirty="0">
                <a:solidFill>
                  <a:srgbClr val="0000FF"/>
                </a:solidFill>
              </a:rPr>
              <a:t> frame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69FE88-A54E-C815-ED60-560636E24145}"/>
              </a:ext>
            </a:extLst>
          </p:cNvPr>
          <p:cNvSpPr txBox="1"/>
          <p:nvPr/>
        </p:nvSpPr>
        <p:spPr>
          <a:xfrm>
            <a:off x="200473" y="839049"/>
            <a:ext cx="6337044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16E94C-1B3E-C51C-6355-B08DAC14F274}"/>
              </a:ext>
            </a:extLst>
          </p:cNvPr>
          <p:cNvSpPr txBox="1"/>
          <p:nvPr/>
        </p:nvSpPr>
        <p:spPr>
          <a:xfrm>
            <a:off x="6393160" y="1708594"/>
            <a:ext cx="3312368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BowlingGame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pins;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080970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685800" y="1295400"/>
            <a:ext cx="4038600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import junit.framework.TestCase;</a:t>
            </a:r>
          </a:p>
          <a:p>
            <a:endParaRPr lang="en-US" sz="900"/>
          </a:p>
          <a:p>
            <a:r>
              <a:rPr lang="en-US" sz="900"/>
              <a:t>public class BowlingGameTest extends TestCase {</a:t>
            </a:r>
          </a:p>
          <a:p>
            <a:r>
              <a:rPr lang="en-US" sz="900"/>
              <a:t>  public void testGutterGame()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g.roll(0);</a:t>
            </a:r>
          </a:p>
          <a:p>
            <a:r>
              <a:rPr lang="en-US" sz="900"/>
              <a:t>    assertEquals(0, g.score());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void testAllOnes()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g.roll(1);</a:t>
            </a:r>
          </a:p>
          <a:p>
            <a:r>
              <a:rPr lang="en-US" sz="900"/>
              <a:t>    assertEquals(20, g.score());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929821-E4CF-6742-BE28-CB865206D96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4366A-D111-7944-89CC-9358A9DC184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841E03-D21F-EF41-9970-41A6C67EDA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34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403F85-25D0-4142-B69C-0E47352C86D0}"/>
              </a:ext>
            </a:extLst>
          </p:cNvPr>
          <p:cNvSpPr txBox="1"/>
          <p:nvPr/>
        </p:nvSpPr>
        <p:spPr>
          <a:xfrm>
            <a:off x="6756407" y="395373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Run the test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114A51-454C-C5AF-F352-A65304F4F286}"/>
              </a:ext>
            </a:extLst>
          </p:cNvPr>
          <p:cNvSpPr txBox="1"/>
          <p:nvPr/>
        </p:nvSpPr>
        <p:spPr>
          <a:xfrm>
            <a:off x="229483" y="845874"/>
            <a:ext cx="62317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25B08D-59D6-990E-B819-B79A78E38756}"/>
              </a:ext>
            </a:extLst>
          </p:cNvPr>
          <p:cNvSpPr txBox="1"/>
          <p:nvPr/>
        </p:nvSpPr>
        <p:spPr>
          <a:xfrm>
            <a:off x="6393160" y="1708594"/>
            <a:ext cx="3312368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BowlingGame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pins;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48A2A6-2CCD-10AC-FB57-ECF4683E58FA}"/>
              </a:ext>
            </a:extLst>
          </p:cNvPr>
          <p:cNvSpPr txBox="1"/>
          <p:nvPr/>
        </p:nvSpPr>
        <p:spPr>
          <a:xfrm>
            <a:off x="4024823" y="3185921"/>
            <a:ext cx="4600585" cy="32932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npm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bowlinggamekata@1.0.0 test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vitest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Started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.F.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Failures: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A game with a spare in first frame and zeros should score 16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Message:</a:t>
            </a:r>
          </a:p>
          <a:p>
            <a:pPr>
              <a:buNone/>
            </a:pPr>
            <a:r>
              <a:rPr lang="en-GB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13 to equal 16.</a:t>
            </a:r>
            <a:endParaRPr lang="en-GB" sz="1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325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431174-8D62-7EC6-AD44-49D8EA10B763}"/>
              </a:ext>
            </a:extLst>
          </p:cNvPr>
          <p:cNvSpPr txBox="1"/>
          <p:nvPr/>
        </p:nvSpPr>
        <p:spPr>
          <a:xfrm>
            <a:off x="229483" y="845874"/>
            <a:ext cx="623177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AA35D6-01C3-CF96-D513-0E130CB023D6}"/>
              </a:ext>
            </a:extLst>
          </p:cNvPr>
          <p:cNvSpPr txBox="1"/>
          <p:nvPr/>
        </p:nvSpPr>
        <p:spPr>
          <a:xfrm>
            <a:off x="6393160" y="1708594"/>
            <a:ext cx="3312368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BowlingGame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pins;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76FCBC-2A35-1D4C-A65F-9EFED89B6374}"/>
              </a:ext>
            </a:extLst>
          </p:cNvPr>
          <p:cNvSpPr txBox="1"/>
          <p:nvPr/>
        </p:nvSpPr>
        <p:spPr>
          <a:xfrm>
            <a:off x="1840284" y="5997019"/>
            <a:ext cx="4688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</a:rPr>
              <a:t>Problem with design –</a:t>
            </a:r>
          </a:p>
          <a:p>
            <a:r>
              <a:rPr lang="en-US" i="1" dirty="0">
                <a:solidFill>
                  <a:srgbClr val="0000FF"/>
                </a:solidFill>
              </a:rPr>
              <a:t>A spare causes score to include next value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9239E-6C62-124F-9A34-C35F07C9F47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BA040-0050-5E40-9030-7875A4BC43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431E3-78B1-A44F-B205-4C59BD7D36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35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0F0DDC-B36F-7215-AF64-6AA6BAF43B03}"/>
              </a:ext>
            </a:extLst>
          </p:cNvPr>
          <p:cNvSpPr txBox="1"/>
          <p:nvPr/>
        </p:nvSpPr>
        <p:spPr>
          <a:xfrm>
            <a:off x="200472" y="1609976"/>
            <a:ext cx="62317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2285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BD884F-5C22-13C1-5681-586CD78DA93B}"/>
              </a:ext>
            </a:extLst>
          </p:cNvPr>
          <p:cNvSpPr txBox="1"/>
          <p:nvPr/>
        </p:nvSpPr>
        <p:spPr>
          <a:xfrm>
            <a:off x="229483" y="845874"/>
            <a:ext cx="62317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C1B006-782D-4BE4-AEBE-CFE1F4B5C691}"/>
              </a:ext>
            </a:extLst>
          </p:cNvPr>
          <p:cNvSpPr txBox="1"/>
          <p:nvPr/>
        </p:nvSpPr>
        <p:spPr>
          <a:xfrm>
            <a:off x="6393160" y="1708594"/>
            <a:ext cx="3312368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BowlingGame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pins;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4A13C9FF-6774-4E49-80A4-C05E7B3C9C3F}"/>
              </a:ext>
            </a:extLst>
          </p:cNvPr>
          <p:cNvSpPr/>
          <p:nvPr/>
        </p:nvSpPr>
        <p:spPr bwMode="auto">
          <a:xfrm>
            <a:off x="6981347" y="2209031"/>
            <a:ext cx="2896832" cy="741969"/>
          </a:xfrm>
          <a:prstGeom prst="wedgeRoundRectCallout">
            <a:avLst>
              <a:gd name="adj1" fmla="val -47404"/>
              <a:gd name="adj2" fmla="val 81906"/>
              <a:gd name="adj3" fmla="val 16667"/>
            </a:avLst>
          </a:prstGeom>
          <a:solidFill>
            <a:srgbClr val="C8C8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roll() calculates score, but name does not imply that</a:t>
            </a: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DFAB2CAE-0EA3-4746-8686-05EE9A328475}"/>
              </a:ext>
            </a:extLst>
          </p:cNvPr>
          <p:cNvSpPr/>
          <p:nvPr/>
        </p:nvSpPr>
        <p:spPr bwMode="auto">
          <a:xfrm>
            <a:off x="7065994" y="5104532"/>
            <a:ext cx="2665156" cy="916135"/>
          </a:xfrm>
          <a:prstGeom prst="wedgeRoundRectCallout">
            <a:avLst>
              <a:gd name="adj1" fmla="val -45078"/>
              <a:gd name="adj2" fmla="val -93551"/>
              <a:gd name="adj3" fmla="val 16667"/>
            </a:avLst>
          </a:prstGeom>
          <a:solidFill>
            <a:srgbClr val="C8C8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Score getter does not calculate score, but name implies that it does.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FA550B-5BFF-004B-AFCD-236DA97DB815}"/>
              </a:ext>
            </a:extLst>
          </p:cNvPr>
          <p:cNvSpPr txBox="1"/>
          <p:nvPr/>
        </p:nvSpPr>
        <p:spPr>
          <a:xfrm>
            <a:off x="6393160" y="158958"/>
            <a:ext cx="3391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</a:rPr>
              <a:t>Design is now wrong –</a:t>
            </a:r>
          </a:p>
          <a:p>
            <a:r>
              <a:rPr lang="en-US" i="1" dirty="0">
                <a:solidFill>
                  <a:srgbClr val="0000FF"/>
                </a:solidFill>
              </a:rPr>
              <a:t>Responsibilities are misplaced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FFE4BB-35DB-F349-AC6B-DFE8365BA5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657E40-DA82-934A-A920-8DF071272A1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1F2477-D049-7C42-B494-6A08D3DE4B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3077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A89A6A-BAC8-2890-AFAB-443D45D6442C}"/>
              </a:ext>
            </a:extLst>
          </p:cNvPr>
          <p:cNvSpPr txBox="1"/>
          <p:nvPr/>
        </p:nvSpPr>
        <p:spPr>
          <a:xfrm>
            <a:off x="229483" y="845874"/>
            <a:ext cx="62317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A0F4AC-DF29-834A-AC7A-2E58FBE06A6D}"/>
              </a:ext>
            </a:extLst>
          </p:cNvPr>
          <p:cNvSpPr txBox="1"/>
          <p:nvPr/>
        </p:nvSpPr>
        <p:spPr>
          <a:xfrm>
            <a:off x="5406226" y="1251595"/>
            <a:ext cx="4108170" cy="47705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 = [];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this.rolls.push</a:t>
            </a:r>
            <a:r>
              <a:rPr lang="en-GB" sz="1600" dirty="0">
                <a:solidFill>
                  <a:schemeClr val="tx1"/>
                </a:solidFill>
              </a:rPr>
              <a:t>(pins);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score = 0;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for 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= 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&lt; </a:t>
            </a:r>
            <a:r>
              <a:rPr lang="en-GB" sz="1600" dirty="0" err="1">
                <a:solidFill>
                  <a:schemeClr val="tx1"/>
                </a:solidFill>
              </a:rPr>
              <a:t>this.rolls.length</a:t>
            </a:r>
            <a:r>
              <a:rPr lang="en-GB" sz="1600" dirty="0">
                <a:solidFill>
                  <a:schemeClr val="tx1"/>
                </a:solidFill>
              </a:rPr>
              <a:t>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return score;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733613-7A03-3244-B639-AD4FF2FDAA07}"/>
              </a:ext>
            </a:extLst>
          </p:cNvPr>
          <p:cNvSpPr txBox="1"/>
          <p:nvPr/>
        </p:nvSpPr>
        <p:spPr>
          <a:xfrm>
            <a:off x="5889104" y="6395519"/>
            <a:ext cx="3391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</a:rPr>
              <a:t>Responsibilities are now better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F910D3-922E-E547-AAE0-7633B7A4541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5EC44F-2024-2D4D-B790-281AD54CD2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049DC-17ED-B047-A930-8F1D521910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37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BA655A-6179-8D45-9A2A-FD4ECC4C976C}"/>
              </a:ext>
            </a:extLst>
          </p:cNvPr>
          <p:cNvSpPr txBox="1"/>
          <p:nvPr/>
        </p:nvSpPr>
        <p:spPr>
          <a:xfrm>
            <a:off x="6008308" y="453135"/>
            <a:ext cx="350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Refactor code to improve design</a:t>
            </a:r>
          </a:p>
        </p:txBody>
      </p:sp>
    </p:spTree>
    <p:extLst>
      <p:ext uri="{BB962C8B-B14F-4D97-AF65-F5344CB8AC3E}">
        <p14:creationId xmlns:p14="http://schemas.microsoft.com/office/powerpoint/2010/main" val="21792915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703979-DDEF-514D-AFC8-7FE5236E8707}"/>
              </a:ext>
            </a:extLst>
          </p:cNvPr>
          <p:cNvSpPr txBox="1"/>
          <p:nvPr/>
        </p:nvSpPr>
        <p:spPr>
          <a:xfrm>
            <a:off x="6204665" y="410573"/>
            <a:ext cx="3391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</a:rPr>
              <a:t>But spare test still fails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E0D6C8-7A54-BA4A-985E-F8CD61CFDB6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580B6-21F2-6B45-8D70-9B8C105145C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E2FFF-BE0E-1B41-9C65-D01F00D7DB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38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BF92A-CF0E-1412-7956-11CB916BEF89}"/>
              </a:ext>
            </a:extLst>
          </p:cNvPr>
          <p:cNvSpPr txBox="1"/>
          <p:nvPr/>
        </p:nvSpPr>
        <p:spPr>
          <a:xfrm>
            <a:off x="229483" y="845874"/>
            <a:ext cx="62317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B551C6-A2A0-9C13-36BE-F569A2149699}"/>
              </a:ext>
            </a:extLst>
          </p:cNvPr>
          <p:cNvSpPr txBox="1"/>
          <p:nvPr/>
        </p:nvSpPr>
        <p:spPr>
          <a:xfrm>
            <a:off x="5406226" y="1251595"/>
            <a:ext cx="4108170" cy="47705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 = [];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this.rolls.push</a:t>
            </a:r>
            <a:r>
              <a:rPr lang="en-GB" sz="1600" dirty="0">
                <a:solidFill>
                  <a:schemeClr val="tx1"/>
                </a:solidFill>
              </a:rPr>
              <a:t>(pins);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score = 0;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for 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= 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&lt; </a:t>
            </a:r>
            <a:r>
              <a:rPr lang="en-GB" sz="1600" dirty="0" err="1">
                <a:solidFill>
                  <a:schemeClr val="tx1"/>
                </a:solidFill>
              </a:rPr>
              <a:t>this.rolls.length</a:t>
            </a:r>
            <a:r>
              <a:rPr lang="en-GB" sz="1600" dirty="0">
                <a:solidFill>
                  <a:schemeClr val="tx1"/>
                </a:solidFill>
              </a:rPr>
              <a:t>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return score;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53D5E1-785F-3A95-29DF-55DBE49591D4}"/>
              </a:ext>
            </a:extLst>
          </p:cNvPr>
          <p:cNvSpPr txBox="1"/>
          <p:nvPr/>
        </p:nvSpPr>
        <p:spPr>
          <a:xfrm>
            <a:off x="4024823" y="3185921"/>
            <a:ext cx="4600585" cy="32932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npm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bowlinggamekata@1.0.0 test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vitest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Started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.F.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Failures: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A game with a spare in first frame and zeros should score 16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Message:</a:t>
            </a:r>
          </a:p>
          <a:p>
            <a:pPr>
              <a:buNone/>
            </a:pPr>
            <a:r>
              <a:rPr lang="en-GB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13 to equal 16.</a:t>
            </a:r>
            <a:endParaRPr lang="en-GB" sz="1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2144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703979-DDEF-514D-AFC8-7FE5236E8707}"/>
              </a:ext>
            </a:extLst>
          </p:cNvPr>
          <p:cNvSpPr txBox="1"/>
          <p:nvPr/>
        </p:nvSpPr>
        <p:spPr>
          <a:xfrm>
            <a:off x="6731947" y="272322"/>
            <a:ext cx="2708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</a:rPr>
              <a:t>Concept of a spare not modelled in score()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75935E-1220-5545-ABA3-808378AC75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FA1247-221A-EB44-8E6A-B3258315115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9DFB5-FB3A-E34A-9DE1-8EAFADDB3D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39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360217-F87D-8EA8-EFA8-A3ED052B5A86}"/>
              </a:ext>
            </a:extLst>
          </p:cNvPr>
          <p:cNvSpPr txBox="1"/>
          <p:nvPr/>
        </p:nvSpPr>
        <p:spPr>
          <a:xfrm>
            <a:off x="229483" y="845874"/>
            <a:ext cx="62317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DA6A57-A977-358B-2D65-71490E76318D}"/>
              </a:ext>
            </a:extLst>
          </p:cNvPr>
          <p:cNvSpPr txBox="1"/>
          <p:nvPr/>
        </p:nvSpPr>
        <p:spPr>
          <a:xfrm>
            <a:off x="5406226" y="1251595"/>
            <a:ext cx="4108170" cy="47705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 = [];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this.rolls.push</a:t>
            </a:r>
            <a:r>
              <a:rPr lang="en-GB" sz="1600" dirty="0">
                <a:solidFill>
                  <a:schemeClr val="tx1"/>
                </a:solidFill>
              </a:rPr>
              <a:t>(pins);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score = 0;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rgbClr val="FF0000"/>
                </a:solidFill>
              </a:rPr>
              <a:t>    for (let </a:t>
            </a:r>
            <a:r>
              <a:rPr lang="en-GB" sz="1600" dirty="0" err="1">
                <a:solidFill>
                  <a:srgbClr val="FF0000"/>
                </a:solidFill>
              </a:rPr>
              <a:t>i</a:t>
            </a:r>
            <a:r>
              <a:rPr lang="en-GB" sz="1600" dirty="0">
                <a:solidFill>
                  <a:srgbClr val="FF0000"/>
                </a:solidFill>
              </a:rPr>
              <a:t> = 0; </a:t>
            </a:r>
            <a:r>
              <a:rPr lang="en-GB" sz="1600" dirty="0" err="1">
                <a:solidFill>
                  <a:srgbClr val="FF0000"/>
                </a:solidFill>
              </a:rPr>
              <a:t>i</a:t>
            </a:r>
            <a:r>
              <a:rPr lang="en-GB" sz="1600" dirty="0">
                <a:solidFill>
                  <a:srgbClr val="FF0000"/>
                </a:solidFill>
              </a:rPr>
              <a:t> &lt; </a:t>
            </a:r>
            <a:r>
              <a:rPr lang="en-GB" sz="1600" dirty="0" err="1">
                <a:solidFill>
                  <a:srgbClr val="FF0000"/>
                </a:solidFill>
              </a:rPr>
              <a:t>this.rolls.length</a:t>
            </a:r>
            <a:r>
              <a:rPr lang="en-GB" sz="1600" dirty="0">
                <a:solidFill>
                  <a:srgbClr val="FF0000"/>
                </a:solidFill>
              </a:rPr>
              <a:t>; </a:t>
            </a:r>
            <a:r>
              <a:rPr lang="en-GB" sz="1600" dirty="0" err="1">
                <a:solidFill>
                  <a:srgbClr val="FF0000"/>
                </a:solidFill>
              </a:rPr>
              <a:t>i</a:t>
            </a:r>
            <a:r>
              <a:rPr lang="en-GB" sz="1600" dirty="0">
                <a:solidFill>
                  <a:srgbClr val="FF0000"/>
                </a:solidFill>
              </a:rPr>
              <a:t>++) {</a:t>
            </a:r>
          </a:p>
          <a:p>
            <a:r>
              <a:rPr lang="en-GB" sz="1600" dirty="0">
                <a:solidFill>
                  <a:srgbClr val="FF0000"/>
                </a:solidFill>
              </a:rPr>
              <a:t>      score += </a:t>
            </a:r>
            <a:r>
              <a:rPr lang="en-GB" sz="1600" dirty="0" err="1">
                <a:solidFill>
                  <a:srgbClr val="FF0000"/>
                </a:solidFill>
              </a:rPr>
              <a:t>this.rolls</a:t>
            </a:r>
            <a:r>
              <a:rPr lang="en-GB" sz="1600" dirty="0">
                <a:solidFill>
                  <a:srgbClr val="FF0000"/>
                </a:solidFill>
              </a:rPr>
              <a:t>[</a:t>
            </a:r>
            <a:r>
              <a:rPr lang="en-GB" sz="1600" dirty="0" err="1">
                <a:solidFill>
                  <a:srgbClr val="FF0000"/>
                </a:solidFill>
              </a:rPr>
              <a:t>i</a:t>
            </a:r>
            <a:r>
              <a:rPr lang="en-GB" sz="1600" dirty="0">
                <a:solidFill>
                  <a:srgbClr val="FF0000"/>
                </a:solidFill>
              </a:rPr>
              <a:t>];</a:t>
            </a:r>
          </a:p>
          <a:p>
            <a:r>
              <a:rPr lang="en-GB" sz="1600" dirty="0">
                <a:solidFill>
                  <a:srgbClr val="FF0000"/>
                </a:solidFill>
              </a:rPr>
              <a:t>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return score;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376358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703979-DDEF-514D-AFC8-7FE5236E8707}"/>
              </a:ext>
            </a:extLst>
          </p:cNvPr>
          <p:cNvSpPr txBox="1"/>
          <p:nvPr/>
        </p:nvSpPr>
        <p:spPr>
          <a:xfrm>
            <a:off x="4376936" y="93149"/>
            <a:ext cx="365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</a:rPr>
              <a:t>Need to consider scores in pairs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DB0D07-AF89-0541-9593-90325E8B07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74345B-021D-3B4F-9B49-EF10EB2027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F2B70-4C51-8B4C-B8DF-ADD200960B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40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3ECEC1-EB38-81B9-AAA8-5328AECB43EF}"/>
              </a:ext>
            </a:extLst>
          </p:cNvPr>
          <p:cNvSpPr txBox="1"/>
          <p:nvPr/>
        </p:nvSpPr>
        <p:spPr>
          <a:xfrm>
            <a:off x="229483" y="845874"/>
            <a:ext cx="62317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252751-16E9-CEEC-2824-74C69A384283}"/>
              </a:ext>
            </a:extLst>
          </p:cNvPr>
          <p:cNvSpPr txBox="1"/>
          <p:nvPr/>
        </p:nvSpPr>
        <p:spPr>
          <a:xfrm>
            <a:off x="5241032" y="524939"/>
            <a:ext cx="4561396" cy="64940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 = [];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this.rolls.push</a:t>
            </a:r>
            <a:r>
              <a:rPr lang="en-GB" sz="1600" dirty="0">
                <a:solidFill>
                  <a:schemeClr val="tx1"/>
                </a:solidFill>
              </a:rPr>
              <a:t>(pins);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score = 0;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= 0;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for (let frame = 0; frame &lt; 10; 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if (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+ 1] === 10)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+ 2];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 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return score;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4ACD0C-A49D-D843-BDCF-C0C8CE8161E2}"/>
              </a:ext>
            </a:extLst>
          </p:cNvPr>
          <p:cNvSpPr txBox="1"/>
          <p:nvPr/>
        </p:nvSpPr>
        <p:spPr>
          <a:xfrm>
            <a:off x="7485726" y="6031732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Refactor again</a:t>
            </a:r>
          </a:p>
        </p:txBody>
      </p:sp>
    </p:spTree>
    <p:extLst>
      <p:ext uri="{BB962C8B-B14F-4D97-AF65-F5344CB8AC3E}">
        <p14:creationId xmlns:p14="http://schemas.microsoft.com/office/powerpoint/2010/main" val="16283669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C4BCBDA-2F1F-8A88-BA3D-A346CE57D7D1}"/>
              </a:ext>
            </a:extLst>
          </p:cNvPr>
          <p:cNvSpPr txBox="1"/>
          <p:nvPr/>
        </p:nvSpPr>
        <p:spPr>
          <a:xfrm>
            <a:off x="229483" y="845874"/>
            <a:ext cx="62317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F78FCD-25C8-3593-A690-35188D853F05}"/>
              </a:ext>
            </a:extLst>
          </p:cNvPr>
          <p:cNvSpPr txBox="1"/>
          <p:nvPr/>
        </p:nvSpPr>
        <p:spPr>
          <a:xfrm>
            <a:off x="5169024" y="524939"/>
            <a:ext cx="4633404" cy="69865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 = [];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this.rolls.push</a:t>
            </a:r>
            <a:r>
              <a:rPr lang="en-GB" sz="1600" dirty="0">
                <a:solidFill>
                  <a:schemeClr val="tx1"/>
                </a:solidFill>
              </a:rPr>
              <a:t>(pins);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score = 0;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for (let frame = 0; frame &lt; 10; 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if (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 === 10)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return score;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890D6-819C-C443-BC0F-40A96C01B4D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76E22F-63E1-4F4E-AD06-6B5F3A7FB74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02C9A2-2BB4-834E-BEC4-69FCF36A39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41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9B0D22-D8E0-DBEE-D01D-E80368B2F8AE}"/>
              </a:ext>
            </a:extLst>
          </p:cNvPr>
          <p:cNvSpPr txBox="1"/>
          <p:nvPr/>
        </p:nvSpPr>
        <p:spPr>
          <a:xfrm>
            <a:off x="4024823" y="3185921"/>
            <a:ext cx="4600585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npm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bowlinggamekata@1.0.0 test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vitest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Started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specs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0 failures</a:t>
            </a:r>
            <a:endParaRPr lang="en-GB" sz="1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7980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1B5560-7AEE-07BA-EF8F-83F77A55890C}"/>
              </a:ext>
            </a:extLst>
          </p:cNvPr>
          <p:cNvSpPr txBox="1"/>
          <p:nvPr/>
        </p:nvSpPr>
        <p:spPr>
          <a:xfrm>
            <a:off x="229483" y="845874"/>
            <a:ext cx="62317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6AE3B1-6043-CC0E-8EAE-0EAD224908D1}"/>
              </a:ext>
            </a:extLst>
          </p:cNvPr>
          <p:cNvSpPr txBox="1"/>
          <p:nvPr/>
        </p:nvSpPr>
        <p:spPr>
          <a:xfrm>
            <a:off x="5169024" y="524939"/>
            <a:ext cx="4633404" cy="64940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 = [];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this.rolls.push</a:t>
            </a:r>
            <a:r>
              <a:rPr lang="en-GB" sz="1600" dirty="0">
                <a:solidFill>
                  <a:schemeClr val="tx1"/>
                </a:solidFill>
              </a:rPr>
              <a:t>(pins);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score = 0;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= 0;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for (let frame = 0; frame &lt; 10; 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if (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+ 1] === 10)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+ 2];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 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return score;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E63657-C8D8-C14B-991D-D6DC7E8FBE8F}"/>
              </a:ext>
            </a:extLst>
          </p:cNvPr>
          <p:cNvSpPr txBox="1"/>
          <p:nvPr/>
        </p:nvSpPr>
        <p:spPr>
          <a:xfrm>
            <a:off x="6125212" y="198094"/>
            <a:ext cx="365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</a:rPr>
              <a:t>Consider refactoring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5380E8-D132-A044-AF59-CD27B1EC2B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4233DB-8BA1-C44C-B6BD-7F93085D4A4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709BA4-C892-4E4D-9861-82328E35EE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42</a:t>
            </a:fld>
            <a:endParaRPr lang="en-GB"/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2EA18F23-F7E5-3A46-AB03-647680412F6D}"/>
              </a:ext>
            </a:extLst>
          </p:cNvPr>
          <p:cNvSpPr/>
          <p:nvPr/>
        </p:nvSpPr>
        <p:spPr bwMode="auto">
          <a:xfrm>
            <a:off x="6249144" y="2815691"/>
            <a:ext cx="2896832" cy="486890"/>
          </a:xfrm>
          <a:prstGeom prst="wedgeRoundRectCallout">
            <a:avLst>
              <a:gd name="adj1" fmla="val -50879"/>
              <a:gd name="adj2" fmla="val 73291"/>
              <a:gd name="adj3" fmla="val 16667"/>
            </a:avLst>
          </a:prstGeom>
          <a:solidFill>
            <a:srgbClr val="C8C8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does ‘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represent?</a:t>
            </a:r>
          </a:p>
        </p:txBody>
      </p:sp>
    </p:spTree>
    <p:extLst>
      <p:ext uri="{BB962C8B-B14F-4D97-AF65-F5344CB8AC3E}">
        <p14:creationId xmlns:p14="http://schemas.microsoft.com/office/powerpoint/2010/main" val="17337255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9CEBD1-2987-D942-9E5D-4DE1A248D3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5EBA90-C5B6-CB45-A1CD-9C9DECA22E8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1FCE7-6D86-B041-8F4C-0858BB7FBC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43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7BCB91-01FF-583B-ED52-033F4F390FCA}"/>
              </a:ext>
            </a:extLst>
          </p:cNvPr>
          <p:cNvSpPr txBox="1"/>
          <p:nvPr/>
        </p:nvSpPr>
        <p:spPr>
          <a:xfrm>
            <a:off x="229483" y="845874"/>
            <a:ext cx="62317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A36913-4D20-E0D4-4A99-968A5315C77F}"/>
              </a:ext>
            </a:extLst>
          </p:cNvPr>
          <p:cNvSpPr txBox="1"/>
          <p:nvPr/>
        </p:nvSpPr>
        <p:spPr>
          <a:xfrm>
            <a:off x="3008784" y="524939"/>
            <a:ext cx="6793644" cy="64940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 = [];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this.rolls.push</a:t>
            </a:r>
            <a:r>
              <a:rPr lang="en-GB" sz="1600" dirty="0">
                <a:solidFill>
                  <a:schemeClr val="tx1"/>
                </a:solidFill>
              </a:rPr>
              <a:t>(pins);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score = 0;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for (let frame = 0; frame &lt; 10; 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if (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 === 10)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return score;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031363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C19A56-A3EF-7ECB-91EA-A27B19E29D77}"/>
              </a:ext>
            </a:extLst>
          </p:cNvPr>
          <p:cNvSpPr txBox="1"/>
          <p:nvPr/>
        </p:nvSpPr>
        <p:spPr>
          <a:xfrm>
            <a:off x="229483" y="845874"/>
            <a:ext cx="62317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E33924-7E4C-51CD-1ACD-4B29C336B2AC}"/>
              </a:ext>
            </a:extLst>
          </p:cNvPr>
          <p:cNvSpPr txBox="1"/>
          <p:nvPr/>
        </p:nvSpPr>
        <p:spPr>
          <a:xfrm>
            <a:off x="3008784" y="524939"/>
            <a:ext cx="6793644" cy="64940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 = [];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this.rolls.push</a:t>
            </a:r>
            <a:r>
              <a:rPr lang="en-GB" sz="1600" dirty="0">
                <a:solidFill>
                  <a:schemeClr val="tx1"/>
                </a:solidFill>
              </a:rPr>
              <a:t>(pins);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score = 0;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for (let frame = 0; frame &lt; 10; frame++) {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  if (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] +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 + 1] === 10) {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    score += 10 +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 + 2];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  } else {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    score +=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] +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 + 1];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return score;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E63657-C8D8-C14B-991D-D6DC7E8FBE8F}"/>
              </a:ext>
            </a:extLst>
          </p:cNvPr>
          <p:cNvSpPr txBox="1"/>
          <p:nvPr/>
        </p:nvSpPr>
        <p:spPr>
          <a:xfrm>
            <a:off x="5738936" y="198094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</a:rPr>
              <a:t>Consider further refactoring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9CEBD1-2987-D942-9E5D-4DE1A248D3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5EBA90-C5B6-CB45-A1CD-9C9DECA22E8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1FCE7-6D86-B041-8F4C-0858BB7FBC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44</a:t>
            </a:fld>
            <a:endParaRPr lang="en-GB"/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23748703-0F3D-B94D-8E8E-FF01715C981C}"/>
              </a:ext>
            </a:extLst>
          </p:cNvPr>
          <p:cNvSpPr/>
          <p:nvPr/>
        </p:nvSpPr>
        <p:spPr bwMode="auto">
          <a:xfrm>
            <a:off x="6790349" y="2420674"/>
            <a:ext cx="3096344" cy="1125352"/>
          </a:xfrm>
          <a:prstGeom prst="wedgeRoundRectCallout">
            <a:avLst>
              <a:gd name="adj1" fmla="val -56328"/>
              <a:gd name="adj2" fmla="val 88946"/>
              <a:gd name="adj3" fmla="val 16667"/>
            </a:avLst>
          </a:prstGeom>
          <a:solidFill>
            <a:srgbClr val="C8C8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does the ‘if” here represent?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a comment to explain the logic!!</a:t>
            </a:r>
          </a:p>
        </p:txBody>
      </p:sp>
    </p:spTree>
    <p:extLst>
      <p:ext uri="{BB962C8B-B14F-4D97-AF65-F5344CB8AC3E}">
        <p14:creationId xmlns:p14="http://schemas.microsoft.com/office/powerpoint/2010/main" val="2895978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114699-62C5-E07C-49FE-BF89D600709B}"/>
              </a:ext>
            </a:extLst>
          </p:cNvPr>
          <p:cNvSpPr txBox="1"/>
          <p:nvPr/>
        </p:nvSpPr>
        <p:spPr>
          <a:xfrm>
            <a:off x="229483" y="845874"/>
            <a:ext cx="62317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7E0E28-44CC-FA77-EBCA-E146C8342B04}"/>
              </a:ext>
            </a:extLst>
          </p:cNvPr>
          <p:cNvSpPr txBox="1"/>
          <p:nvPr/>
        </p:nvSpPr>
        <p:spPr>
          <a:xfrm>
            <a:off x="3008784" y="524939"/>
            <a:ext cx="6793644" cy="57554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// …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rgbClr val="0000FF"/>
                </a:solidFill>
              </a:rPr>
              <a:t>    </a:t>
            </a:r>
            <a:r>
              <a:rPr lang="en-GB" sz="1600" dirty="0" err="1">
                <a:solidFill>
                  <a:srgbClr val="0000FF"/>
                </a:solidFill>
              </a:rPr>
              <a:t>isSpare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) {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    return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] +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 + 1] == 10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score = 0;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for (let frame = 0; frame &lt; 10; 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if (</a:t>
            </a:r>
            <a:r>
              <a:rPr lang="en-GB" sz="1600" dirty="0" err="1">
                <a:solidFill>
                  <a:schemeClr val="tx1"/>
                </a:solidFill>
              </a:rPr>
              <a:t>this.</a:t>
            </a:r>
            <a:r>
              <a:rPr lang="en-GB" sz="1600" dirty="0" err="1">
                <a:solidFill>
                  <a:srgbClr val="0000FF"/>
                </a:solidFill>
              </a:rPr>
              <a:t>isSpare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return score;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}}</a:t>
            </a: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CF2265-99A3-C146-A5F2-A85D432154D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8489C8-361E-F249-8F55-70382FC7D96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A7BA8-B695-E443-8B01-72982A5D25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45</a:t>
            </a:fld>
            <a:endParaRPr lang="en-GB"/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520D0F89-EFE6-B842-AC52-4F2447838FAA}"/>
              </a:ext>
            </a:extLst>
          </p:cNvPr>
          <p:cNvSpPr/>
          <p:nvPr/>
        </p:nvSpPr>
        <p:spPr bwMode="auto">
          <a:xfrm>
            <a:off x="6764269" y="391210"/>
            <a:ext cx="2617104" cy="909328"/>
          </a:xfrm>
          <a:prstGeom prst="wedgeRoundRectCallout">
            <a:avLst>
              <a:gd name="adj1" fmla="val -50879"/>
              <a:gd name="adj2" fmla="val 73291"/>
              <a:gd name="adj3" fmla="val 16667"/>
            </a:avLst>
          </a:prstGeom>
          <a:solidFill>
            <a:srgbClr val="C8C8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an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isSpare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method – more semantically meaningful code</a:t>
            </a:r>
          </a:p>
        </p:txBody>
      </p:sp>
    </p:spTree>
    <p:extLst>
      <p:ext uri="{BB962C8B-B14F-4D97-AF65-F5344CB8AC3E}">
        <p14:creationId xmlns:p14="http://schemas.microsoft.com/office/powerpoint/2010/main" val="38729625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685800" y="1295400"/>
            <a:ext cx="4038600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import junit.framework.TestCase;</a:t>
            </a:r>
          </a:p>
          <a:p>
            <a:endParaRPr lang="en-US" sz="900"/>
          </a:p>
          <a:p>
            <a:r>
              <a:rPr lang="en-US" sz="900"/>
              <a:t>public class BowlingGameTest extends TestCase {</a:t>
            </a:r>
          </a:p>
          <a:p>
            <a:r>
              <a:rPr lang="en-US" sz="900"/>
              <a:t>  public void testGutterGame()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g.roll(0);</a:t>
            </a:r>
          </a:p>
          <a:p>
            <a:r>
              <a:rPr lang="en-US" sz="900"/>
              <a:t>    assertEquals(0, g.score());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void testAllOnes()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g.roll(1);</a:t>
            </a:r>
          </a:p>
          <a:p>
            <a:r>
              <a:rPr lang="en-US" sz="900"/>
              <a:t>    assertEquals(20, g.score());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5181600" y="1295400"/>
            <a:ext cx="403860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public class Game {</a:t>
            </a:r>
          </a:p>
          <a:p>
            <a:r>
              <a:rPr lang="en-US" sz="900"/>
              <a:t>  public void roll(int pins) {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int score() {</a:t>
            </a:r>
          </a:p>
          <a:p>
            <a:r>
              <a:rPr lang="en-US" sz="900"/>
              <a:t>    return 0;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  <a:p>
            <a:endParaRPr lang="en-US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CD7D9A-13B0-9B47-A14E-C789E2753B6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3CF8CB-6327-2F42-A66D-1E480FE02A5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29A6B2-C487-5240-AB03-221EFE8768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46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AAE0F-4A62-CBFF-B1F2-2FF154302BF4}"/>
              </a:ext>
            </a:extLst>
          </p:cNvPr>
          <p:cNvSpPr txBox="1"/>
          <p:nvPr/>
        </p:nvSpPr>
        <p:spPr>
          <a:xfrm>
            <a:off x="229483" y="845874"/>
            <a:ext cx="62317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00AA1B-2DCA-4431-1712-614D6B8162DA}"/>
              </a:ext>
            </a:extLst>
          </p:cNvPr>
          <p:cNvSpPr txBox="1"/>
          <p:nvPr/>
        </p:nvSpPr>
        <p:spPr>
          <a:xfrm>
            <a:off x="3008784" y="524939"/>
            <a:ext cx="6793644" cy="57554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// …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rgbClr val="0000FF"/>
                </a:solidFill>
              </a:rPr>
              <a:t>    </a:t>
            </a:r>
            <a:r>
              <a:rPr lang="en-GB" sz="1600" dirty="0" err="1">
                <a:solidFill>
                  <a:srgbClr val="0000FF"/>
                </a:solidFill>
              </a:rPr>
              <a:t>isSpare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) {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    return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] +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 + 1] == 10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score = 0;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for (let frame = 0; frame &lt; 10; 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if (</a:t>
            </a:r>
            <a:r>
              <a:rPr lang="en-GB" sz="1600" dirty="0" err="1">
                <a:solidFill>
                  <a:schemeClr val="tx1"/>
                </a:solidFill>
              </a:rPr>
              <a:t>this.</a:t>
            </a:r>
            <a:r>
              <a:rPr lang="en-GB" sz="1600" dirty="0" err="1">
                <a:solidFill>
                  <a:srgbClr val="0000FF"/>
                </a:solidFill>
              </a:rPr>
              <a:t>isSpare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return score;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5A3035-39DF-4AED-4C95-5324AEB68101}"/>
              </a:ext>
            </a:extLst>
          </p:cNvPr>
          <p:cNvSpPr txBox="1"/>
          <p:nvPr/>
        </p:nvSpPr>
        <p:spPr>
          <a:xfrm>
            <a:off x="4024823" y="3185921"/>
            <a:ext cx="4600585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npm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bowlinggamekata@1.0.0 test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vitest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Started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specs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0 failures</a:t>
            </a:r>
            <a:endParaRPr lang="en-GB" sz="1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6462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8586E12-EEA6-3E37-D5CB-819CF6A8AA1E}"/>
              </a:ext>
            </a:extLst>
          </p:cNvPr>
          <p:cNvSpPr txBox="1"/>
          <p:nvPr/>
        </p:nvSpPr>
        <p:spPr>
          <a:xfrm>
            <a:off x="3008784" y="524939"/>
            <a:ext cx="6793644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// …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 == 10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score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for(let frame=0; frame &lt; 10;frame++)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if (</a:t>
            </a:r>
            <a:r>
              <a:rPr lang="en-GB" sz="1600" dirty="0" err="1">
                <a:solidFill>
                  <a:schemeClr val="tx1"/>
                </a:solidFill>
              </a:rPr>
              <a:t>this.isSpare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score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FB5D83-5B63-E4CE-E225-441471D60583}"/>
              </a:ext>
            </a:extLst>
          </p:cNvPr>
          <p:cNvSpPr txBox="1"/>
          <p:nvPr/>
        </p:nvSpPr>
        <p:spPr>
          <a:xfrm>
            <a:off x="229483" y="845874"/>
            <a:ext cx="62317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685800" y="1295400"/>
            <a:ext cx="4038600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import junit.framework.TestCase;</a:t>
            </a:r>
          </a:p>
          <a:p>
            <a:endParaRPr lang="en-US" sz="900"/>
          </a:p>
          <a:p>
            <a:r>
              <a:rPr lang="en-US" sz="900"/>
              <a:t>public class BowlingGameTest extends TestCase {</a:t>
            </a:r>
          </a:p>
          <a:p>
            <a:r>
              <a:rPr lang="en-US" sz="900"/>
              <a:t>  public void testGutterGame()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g.roll(0);</a:t>
            </a:r>
          </a:p>
          <a:p>
            <a:r>
              <a:rPr lang="en-US" sz="900"/>
              <a:t>    assertEquals(0, g.score());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void testAllOnes()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g.roll(1);</a:t>
            </a:r>
          </a:p>
          <a:p>
            <a:r>
              <a:rPr lang="en-US" sz="900"/>
              <a:t>    assertEquals(20, g.score());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067C2941-1BD3-5D4D-8CEB-A137CA917914}"/>
              </a:ext>
            </a:extLst>
          </p:cNvPr>
          <p:cNvSpPr/>
          <p:nvPr/>
        </p:nvSpPr>
        <p:spPr bwMode="auto">
          <a:xfrm>
            <a:off x="3492936" y="3245788"/>
            <a:ext cx="2462928" cy="1155209"/>
          </a:xfrm>
          <a:prstGeom prst="wedgeRoundRectCallout">
            <a:avLst>
              <a:gd name="adj1" fmla="val -100635"/>
              <a:gd name="adj2" fmla="val -41362"/>
              <a:gd name="adj3" fmla="val 16667"/>
            </a:avLst>
          </a:prstGeom>
          <a:solidFill>
            <a:srgbClr val="C8C8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What’s this!!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Another comment required to explain concept of a spare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0A281C-979A-C049-9C13-6276FC7FD5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D89F22-56AE-3E41-9AFF-2BE557D8A19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B4BE45-FF6E-5F4F-860A-9A2BECB478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8377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685800" y="1295400"/>
            <a:ext cx="4038600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import junit.framework.TestCase;</a:t>
            </a:r>
          </a:p>
          <a:p>
            <a:endParaRPr lang="en-US" sz="900"/>
          </a:p>
          <a:p>
            <a:r>
              <a:rPr lang="en-US" sz="900"/>
              <a:t>public class BowlingGameTest extends TestCase {</a:t>
            </a:r>
          </a:p>
          <a:p>
            <a:r>
              <a:rPr lang="en-US" sz="900"/>
              <a:t>  public void testGutterGame()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g.roll(0);</a:t>
            </a:r>
          </a:p>
          <a:p>
            <a:r>
              <a:rPr lang="en-US" sz="900"/>
              <a:t>    assertEquals(0, g.score());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void testAllOnes()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g.roll(1);</a:t>
            </a:r>
          </a:p>
          <a:p>
            <a:r>
              <a:rPr lang="en-US" sz="900"/>
              <a:t>    assertEquals(20, g.score());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5181600" y="1295400"/>
            <a:ext cx="403860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public class Game {</a:t>
            </a:r>
          </a:p>
          <a:p>
            <a:r>
              <a:rPr lang="en-US" sz="900"/>
              <a:t>  public void roll(int pins) {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int score() {</a:t>
            </a:r>
          </a:p>
          <a:p>
            <a:r>
              <a:rPr lang="en-US" sz="900"/>
              <a:t>    return 0;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  <a:p>
            <a:endParaRPr lang="en-US" sz="9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2226DE-B89E-BE42-9DD0-FE3734D5458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47D97D-C174-7045-B2A5-FB149C9F279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CBB23-CD97-2C4F-8D9F-36C6C3F22B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48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14E874-83DE-7B6E-EF21-0D57E8561D5A}"/>
              </a:ext>
            </a:extLst>
          </p:cNvPr>
          <p:cNvSpPr txBox="1"/>
          <p:nvPr/>
        </p:nvSpPr>
        <p:spPr>
          <a:xfrm>
            <a:off x="3008784" y="524939"/>
            <a:ext cx="6793644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// …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 == 10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score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for(let frame=0; frame &lt; 10;frame++)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if (</a:t>
            </a:r>
            <a:r>
              <a:rPr lang="en-GB" sz="1600" dirty="0" err="1">
                <a:solidFill>
                  <a:schemeClr val="tx1"/>
                </a:solidFill>
              </a:rPr>
              <a:t>this.isSpare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score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8C47DC-83CF-2AF0-4AB0-035F743609DD}"/>
              </a:ext>
            </a:extLst>
          </p:cNvPr>
          <p:cNvSpPr txBox="1"/>
          <p:nvPr/>
        </p:nvSpPr>
        <p:spPr>
          <a:xfrm>
            <a:off x="229483" y="845874"/>
            <a:ext cx="6231775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it('game with a spare in first frame and zeros should score 16',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rollSpare</a:t>
            </a:r>
            <a:r>
              <a:rPr lang="en-GB" sz="1600" dirty="0">
                <a:solidFill>
                  <a:schemeClr val="tx1"/>
                </a:solidFill>
              </a:rPr>
              <a:t>(5, 5);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b="1" dirty="0">
                <a:solidFill>
                  <a:schemeClr val="tx1"/>
                </a:solidFill>
              </a:rPr>
              <a:t>function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rollSpare</a:t>
            </a:r>
            <a:r>
              <a:rPr lang="en-GB" sz="1600" dirty="0">
                <a:solidFill>
                  <a:schemeClr val="tx1"/>
                </a:solidFill>
              </a:rPr>
              <a:t>(first, second)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(first);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(second);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  <a:p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7BA04720-10AC-BA85-43D3-1E847FAC406F}"/>
              </a:ext>
            </a:extLst>
          </p:cNvPr>
          <p:cNvSpPr/>
          <p:nvPr/>
        </p:nvSpPr>
        <p:spPr bwMode="auto">
          <a:xfrm>
            <a:off x="3720676" y="4172064"/>
            <a:ext cx="2462928" cy="1155209"/>
          </a:xfrm>
          <a:prstGeom prst="wedgeRoundRectCallout">
            <a:avLst>
              <a:gd name="adj1" fmla="val -100635"/>
              <a:gd name="adj2" fmla="val -41362"/>
              <a:gd name="adj3" fmla="val 16667"/>
            </a:avLst>
          </a:prstGeom>
          <a:solidFill>
            <a:srgbClr val="C8C8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a named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semantically meaningful</a:t>
            </a:r>
          </a:p>
        </p:txBody>
      </p:sp>
    </p:spTree>
    <p:extLst>
      <p:ext uri="{BB962C8B-B14F-4D97-AF65-F5344CB8AC3E}">
        <p14:creationId xmlns:p14="http://schemas.microsoft.com/office/powerpoint/2010/main" val="4208770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685800" y="1295400"/>
            <a:ext cx="4038600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import junit.framework.TestCase;</a:t>
            </a:r>
          </a:p>
          <a:p>
            <a:endParaRPr lang="en-US" sz="900"/>
          </a:p>
          <a:p>
            <a:r>
              <a:rPr lang="en-US" sz="900"/>
              <a:t>public class BowlingGameTest extends TestCase {</a:t>
            </a:r>
          </a:p>
          <a:p>
            <a:r>
              <a:rPr lang="en-US" sz="900"/>
              <a:t>  public void testGutterGame()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g.roll(0);</a:t>
            </a:r>
          </a:p>
          <a:p>
            <a:r>
              <a:rPr lang="en-US" sz="900"/>
              <a:t>    assertEquals(0, g.score());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void testAllOnes()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g.roll(1);</a:t>
            </a:r>
          </a:p>
          <a:p>
            <a:r>
              <a:rPr lang="en-US" sz="900"/>
              <a:t>    assertEquals(20, g.score());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5181600" y="1295400"/>
            <a:ext cx="403860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public class Game {</a:t>
            </a:r>
          </a:p>
          <a:p>
            <a:r>
              <a:rPr lang="en-US" sz="900"/>
              <a:t>  public void roll(int pins) {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int score() {</a:t>
            </a:r>
          </a:p>
          <a:p>
            <a:r>
              <a:rPr lang="en-US" sz="900"/>
              <a:t>    return 0;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  <a:p>
            <a:endParaRPr lang="en-US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D96A20-86CE-934D-8E72-DF6B2AB8A75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89CC9-E4FD-8C4D-9E25-352AA8E334F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9584BE-8BB6-1840-9231-163DC30B96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49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0C9F66-25B0-B19D-20B8-5E20F05ABA64}"/>
              </a:ext>
            </a:extLst>
          </p:cNvPr>
          <p:cNvSpPr txBox="1"/>
          <p:nvPr/>
        </p:nvSpPr>
        <p:spPr>
          <a:xfrm>
            <a:off x="3008784" y="524939"/>
            <a:ext cx="6793644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// …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 == 10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score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for(let frame=0; frame &lt; 10;frame++)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if (</a:t>
            </a:r>
            <a:r>
              <a:rPr lang="en-GB" sz="1600" dirty="0" err="1">
                <a:solidFill>
                  <a:schemeClr val="tx1"/>
                </a:solidFill>
              </a:rPr>
              <a:t>this.isSpare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score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F57EBE-E7BA-813E-D211-545C5D0F5F88}"/>
              </a:ext>
            </a:extLst>
          </p:cNvPr>
          <p:cNvSpPr txBox="1"/>
          <p:nvPr/>
        </p:nvSpPr>
        <p:spPr>
          <a:xfrm>
            <a:off x="229483" y="845874"/>
            <a:ext cx="6231775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it('game with a spare in first frame and zeros should score 16',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rollSpare</a:t>
            </a:r>
            <a:r>
              <a:rPr lang="en-GB" sz="1600" dirty="0">
                <a:solidFill>
                  <a:schemeClr val="tx1"/>
                </a:solidFill>
              </a:rPr>
              <a:t>(5, 5);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b="1" dirty="0">
                <a:solidFill>
                  <a:schemeClr val="tx1"/>
                </a:solidFill>
              </a:rPr>
              <a:t>function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rollSpare</a:t>
            </a:r>
            <a:r>
              <a:rPr lang="en-GB" sz="1600" dirty="0">
                <a:solidFill>
                  <a:schemeClr val="tx1"/>
                </a:solidFill>
              </a:rPr>
              <a:t>(first, second)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(first);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(second);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  <a:p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3D6A37-3631-5406-DB82-C74562C0B9B4}"/>
              </a:ext>
            </a:extLst>
          </p:cNvPr>
          <p:cNvSpPr txBox="1"/>
          <p:nvPr/>
        </p:nvSpPr>
        <p:spPr>
          <a:xfrm>
            <a:off x="4024823" y="3185921"/>
            <a:ext cx="4600585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npm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bowlinggamekata@1.0.0 test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vitest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Started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specs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0 failures</a:t>
            </a:r>
            <a:endParaRPr lang="en-GB" sz="1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2910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Fourth Test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685800" y="1295400"/>
            <a:ext cx="4038600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import junit.framework.TestCase;</a:t>
            </a:r>
          </a:p>
          <a:p>
            <a:endParaRPr lang="en-US" sz="900"/>
          </a:p>
          <a:p>
            <a:r>
              <a:rPr lang="en-US" sz="900"/>
              <a:t>public class BowlingGameTest extends TestCase {</a:t>
            </a:r>
          </a:p>
          <a:p>
            <a:r>
              <a:rPr lang="en-US" sz="900"/>
              <a:t>  public void testGutterGame()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g.roll(0);</a:t>
            </a:r>
          </a:p>
          <a:p>
            <a:r>
              <a:rPr lang="en-US" sz="900"/>
              <a:t>    assertEquals(0, g.score());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void testAllOnes()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g.roll(1);</a:t>
            </a:r>
          </a:p>
          <a:p>
            <a:r>
              <a:rPr lang="en-US" sz="900"/>
              <a:t>    assertEquals(20, g.score());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5181600" y="1295400"/>
            <a:ext cx="403860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public class Game {</a:t>
            </a:r>
          </a:p>
          <a:p>
            <a:r>
              <a:rPr lang="en-US" sz="900"/>
              <a:t>  public void roll(int pins) {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int score() {</a:t>
            </a:r>
          </a:p>
          <a:p>
            <a:r>
              <a:rPr lang="en-US" sz="900"/>
              <a:t>    return 0;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  <a:p>
            <a:endParaRPr lang="en-US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179338-7BF8-2648-BB7C-9D0DF44608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5E0EB4-B29A-594E-9101-515F3FD9F45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0F63C0-7354-AA40-9FE9-55A2671C04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50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2CC6CF-E80D-D210-400E-6DF02C8522DF}"/>
              </a:ext>
            </a:extLst>
          </p:cNvPr>
          <p:cNvSpPr txBox="1"/>
          <p:nvPr/>
        </p:nvSpPr>
        <p:spPr>
          <a:xfrm>
            <a:off x="3008784" y="524939"/>
            <a:ext cx="6793644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// …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 == 10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score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for(let frame=0; frame &lt; 10;frame++)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if (</a:t>
            </a:r>
            <a:r>
              <a:rPr lang="en-GB" sz="1600" dirty="0" err="1">
                <a:solidFill>
                  <a:schemeClr val="tx1"/>
                </a:solidFill>
              </a:rPr>
              <a:t>this.isSpare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score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512034-870E-4CA4-E8A5-BC9C4596FA0F}"/>
              </a:ext>
            </a:extLst>
          </p:cNvPr>
          <p:cNvSpPr txBox="1"/>
          <p:nvPr/>
        </p:nvSpPr>
        <p:spPr>
          <a:xfrm>
            <a:off x="229483" y="845874"/>
            <a:ext cx="6231775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it('game with a strike in first frame and zeros should score 24',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(10);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(4);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(16, 0);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(24);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4757593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Fourth Test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685800" y="1295400"/>
            <a:ext cx="4038600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import junit.framework.TestCase;</a:t>
            </a:r>
          </a:p>
          <a:p>
            <a:endParaRPr lang="en-US" sz="900"/>
          </a:p>
          <a:p>
            <a:r>
              <a:rPr lang="en-US" sz="900"/>
              <a:t>public class BowlingGameTest extends TestCase {</a:t>
            </a:r>
          </a:p>
          <a:p>
            <a:r>
              <a:rPr lang="en-US" sz="900"/>
              <a:t>  public void testGutterGame()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g.roll(0);</a:t>
            </a:r>
          </a:p>
          <a:p>
            <a:r>
              <a:rPr lang="en-US" sz="900"/>
              <a:t>    assertEquals(0, g.score());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void testAllOnes()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g.roll(1);</a:t>
            </a:r>
          </a:p>
          <a:p>
            <a:r>
              <a:rPr lang="en-US" sz="900"/>
              <a:t>    assertEquals(20, g.score());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5181600" y="1295400"/>
            <a:ext cx="403860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public class Game {</a:t>
            </a:r>
          </a:p>
          <a:p>
            <a:r>
              <a:rPr lang="en-US" sz="900"/>
              <a:t>  public void roll(int pins) {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int score() {</a:t>
            </a:r>
          </a:p>
          <a:p>
            <a:r>
              <a:rPr lang="en-US" sz="900"/>
              <a:t>    return 0;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  <a:p>
            <a:endParaRPr lang="en-US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CA2A4A-66F6-7441-8C72-E12D0A68EE2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8E528-C5DB-5E4E-96B7-D6ADCE4F1FB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74BBDE-7BF4-3D40-A938-649A944D77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51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193A6C-6905-BA89-53F4-6CC2E16EC451}"/>
              </a:ext>
            </a:extLst>
          </p:cNvPr>
          <p:cNvSpPr txBox="1"/>
          <p:nvPr/>
        </p:nvSpPr>
        <p:spPr>
          <a:xfrm>
            <a:off x="3008784" y="524939"/>
            <a:ext cx="6793644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// …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 == 10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score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for(let frame=0; frame &lt; 10;frame++)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if (</a:t>
            </a:r>
            <a:r>
              <a:rPr lang="en-GB" sz="1600" dirty="0" err="1">
                <a:solidFill>
                  <a:schemeClr val="tx1"/>
                </a:solidFill>
              </a:rPr>
              <a:t>this.isSpare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score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2C995A-A190-DC80-7ED1-9CD967BB7D7B}"/>
              </a:ext>
            </a:extLst>
          </p:cNvPr>
          <p:cNvSpPr txBox="1"/>
          <p:nvPr/>
        </p:nvSpPr>
        <p:spPr>
          <a:xfrm>
            <a:off x="229483" y="845874"/>
            <a:ext cx="6231775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it('game with a strike in first frame and zeros should score 24',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(10);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(4);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(16, 0);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(24);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0A4BC9-1E67-463E-56D9-363A7CBB9AB7}"/>
              </a:ext>
            </a:extLst>
          </p:cNvPr>
          <p:cNvSpPr txBox="1"/>
          <p:nvPr/>
        </p:nvSpPr>
        <p:spPr>
          <a:xfrm>
            <a:off x="3152800" y="2949794"/>
            <a:ext cx="4600585" cy="32932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npm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bowlinggamekata@1.0.0 test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vitest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Started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..F.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Failures: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A game with a strike in first frame and zeros should score 24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Message: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</a:t>
            </a:r>
            <a:r>
              <a:rPr lang="en-GB" sz="16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NaN</a:t>
            </a:r>
            <a:r>
              <a:rPr lang="en-GB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equal 24.</a:t>
            </a:r>
          </a:p>
        </p:txBody>
      </p:sp>
    </p:spTree>
    <p:extLst>
      <p:ext uri="{BB962C8B-B14F-4D97-AF65-F5344CB8AC3E}">
        <p14:creationId xmlns:p14="http://schemas.microsoft.com/office/powerpoint/2010/main" val="12427860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86E9744-F337-A41B-F72F-1E104A4DA0E4}"/>
              </a:ext>
            </a:extLst>
          </p:cNvPr>
          <p:cNvSpPr txBox="1"/>
          <p:nvPr/>
        </p:nvSpPr>
        <p:spPr>
          <a:xfrm>
            <a:off x="150970" y="692696"/>
            <a:ext cx="6231775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it('game with a strike in first frame and zeros should score 24',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rgbClr val="0000FF"/>
                </a:solidFill>
              </a:rPr>
              <a:t>game.roll</a:t>
            </a:r>
            <a:r>
              <a:rPr lang="en-GB" sz="1600" dirty="0">
                <a:solidFill>
                  <a:srgbClr val="0000FF"/>
                </a:solidFill>
              </a:rPr>
              <a:t>(10); // strike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(4);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(16, 0);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(24);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});</a:t>
            </a: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Fourth Test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5181600" y="1295400"/>
            <a:ext cx="403860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public class Game {</a:t>
            </a:r>
          </a:p>
          <a:p>
            <a:r>
              <a:rPr lang="en-US" sz="900"/>
              <a:t>  public void roll(int pins) {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int score() {</a:t>
            </a:r>
          </a:p>
          <a:p>
            <a:r>
              <a:rPr lang="en-US" sz="900"/>
              <a:t>    return 0;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  <a:p>
            <a:endParaRPr lang="en-US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AF97F6-73C4-154F-A3A3-545EAEE6CE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758405-58DA-BB42-853A-DCBA250CE36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72339-1EA7-9A41-ABB5-EB1D8ECDCD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52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D96C82-C9E0-33CE-D423-7F8944637FFE}"/>
              </a:ext>
            </a:extLst>
          </p:cNvPr>
          <p:cNvSpPr txBox="1"/>
          <p:nvPr/>
        </p:nvSpPr>
        <p:spPr>
          <a:xfrm>
            <a:off x="3112356" y="1012832"/>
            <a:ext cx="6793644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// …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 == 10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get </a:t>
            </a:r>
            <a:r>
              <a:rPr lang="en-GB" sz="1600" dirty="0">
                <a:solidFill>
                  <a:srgbClr val="0000FF"/>
                </a:solidFill>
              </a:rPr>
              <a:t>score</a:t>
            </a:r>
            <a:r>
              <a:rPr lang="en-GB" sz="1600" dirty="0">
                <a:solidFill>
                  <a:schemeClr val="tx1"/>
                </a:solidFill>
              </a:rPr>
              <a:t>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score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for(let frame=0; frame &lt; 10;frame++)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if (</a:t>
            </a:r>
            <a:r>
              <a:rPr lang="en-GB" sz="1600" dirty="0" err="1">
                <a:solidFill>
                  <a:schemeClr val="tx1"/>
                </a:solidFill>
              </a:rPr>
              <a:t>this.isSpare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score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D7948C-1C24-4645-9665-C99DE5B1F8E0}"/>
              </a:ext>
            </a:extLst>
          </p:cNvPr>
          <p:cNvSpPr txBox="1"/>
          <p:nvPr/>
        </p:nvSpPr>
        <p:spPr>
          <a:xfrm>
            <a:off x="272480" y="4725144"/>
            <a:ext cx="3456384" cy="64633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</a:rPr>
              <a:t>score() now has no concept of a strike</a:t>
            </a:r>
          </a:p>
        </p:txBody>
      </p:sp>
    </p:spTree>
    <p:extLst>
      <p:ext uri="{BB962C8B-B14F-4D97-AF65-F5344CB8AC3E}">
        <p14:creationId xmlns:p14="http://schemas.microsoft.com/office/powerpoint/2010/main" val="42479849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Fourth Test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5181600" y="1295400"/>
            <a:ext cx="403860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public class Game {</a:t>
            </a:r>
          </a:p>
          <a:p>
            <a:r>
              <a:rPr lang="en-US" sz="900"/>
              <a:t>  public void roll(int pins) {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int score() {</a:t>
            </a:r>
          </a:p>
          <a:p>
            <a:r>
              <a:rPr lang="en-US" sz="900"/>
              <a:t>    return 0;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  <a:p>
            <a:endParaRPr lang="en-US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11B712-2B82-E344-BB13-D625C80267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2CDF6D-85FE-F448-92A5-51722D89F92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A54668-25C6-F041-AD78-61D3B4F738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53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C0A020-7143-80E6-3ACE-08CE4C844DF8}"/>
              </a:ext>
            </a:extLst>
          </p:cNvPr>
          <p:cNvSpPr txBox="1"/>
          <p:nvPr/>
        </p:nvSpPr>
        <p:spPr>
          <a:xfrm>
            <a:off x="150970" y="692696"/>
            <a:ext cx="6231775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it('game with a strike in first frame and zeros should score 24',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rgbClr val="0000FF"/>
                </a:solidFill>
              </a:rPr>
              <a:t>game.roll</a:t>
            </a:r>
            <a:r>
              <a:rPr lang="en-GB" sz="1600" dirty="0">
                <a:solidFill>
                  <a:srgbClr val="0000FF"/>
                </a:solidFill>
              </a:rPr>
              <a:t>(10); // strike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(4);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(16, 0);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(24);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80495B-E3B1-2CDF-E7F1-DE5E855B216A}"/>
              </a:ext>
            </a:extLst>
          </p:cNvPr>
          <p:cNvSpPr txBox="1"/>
          <p:nvPr/>
        </p:nvSpPr>
        <p:spPr>
          <a:xfrm>
            <a:off x="3131507" y="207280"/>
            <a:ext cx="6793644" cy="6740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// …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rgbClr val="0000FF"/>
                </a:solidFill>
              </a:rPr>
              <a:t>isStrike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) {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    return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] == 10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get score()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let score = 0;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for (let frame = 0; frame &lt; 10; frame++)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if (</a:t>
            </a:r>
            <a:r>
              <a:rPr lang="en-GB" sz="1600" dirty="0" err="1">
                <a:solidFill>
                  <a:schemeClr val="tx1"/>
                </a:solidFill>
              </a:rPr>
              <a:t>this.isStrike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1;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 else if (</a:t>
            </a:r>
            <a:r>
              <a:rPr lang="en-GB" sz="1600" dirty="0" err="1">
                <a:solidFill>
                  <a:schemeClr val="tx1"/>
                </a:solidFill>
              </a:rPr>
              <a:t>this.isSpare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 else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}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return score;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26228396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Fourth Test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685800" y="1295400"/>
            <a:ext cx="4038600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import junit.framework.TestCase;</a:t>
            </a:r>
          </a:p>
          <a:p>
            <a:endParaRPr lang="en-US" sz="900"/>
          </a:p>
          <a:p>
            <a:r>
              <a:rPr lang="en-US" sz="900"/>
              <a:t>public class BowlingGameTest extends TestCase {</a:t>
            </a:r>
          </a:p>
          <a:p>
            <a:r>
              <a:rPr lang="en-US" sz="900"/>
              <a:t>  public void testGutterGame()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g.roll(0);</a:t>
            </a:r>
          </a:p>
          <a:p>
            <a:r>
              <a:rPr lang="en-US" sz="900"/>
              <a:t>    assertEquals(0, g.score());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void testAllOnes()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g.roll(1);</a:t>
            </a:r>
          </a:p>
          <a:p>
            <a:r>
              <a:rPr lang="en-US" sz="900"/>
              <a:t>    assertEquals(20, g.score());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5181600" y="1295400"/>
            <a:ext cx="403860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public class Game {</a:t>
            </a:r>
          </a:p>
          <a:p>
            <a:r>
              <a:rPr lang="en-US" sz="900"/>
              <a:t>  public void roll(int pins) {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int score() {</a:t>
            </a:r>
          </a:p>
          <a:p>
            <a:r>
              <a:rPr lang="en-US" sz="900"/>
              <a:t>    return 0;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  <a:p>
            <a:endParaRPr lang="en-US" sz="9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FB282-622F-104D-BD6A-3E30AEBB1B1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9DCDA-CD36-3841-8C6A-5C39126CDB2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D120A-E56C-7542-AFAE-6FD15EB1B4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54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84E465-6B9B-D870-B8E0-F38D8BA179A2}"/>
              </a:ext>
            </a:extLst>
          </p:cNvPr>
          <p:cNvSpPr txBox="1"/>
          <p:nvPr/>
        </p:nvSpPr>
        <p:spPr>
          <a:xfrm>
            <a:off x="150970" y="692696"/>
            <a:ext cx="6231775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it('game with a strike in first frame and zeros should score 24',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rgbClr val="0000FF"/>
                </a:solidFill>
              </a:rPr>
              <a:t>game.roll</a:t>
            </a:r>
            <a:r>
              <a:rPr lang="en-GB" sz="1600" dirty="0">
                <a:solidFill>
                  <a:srgbClr val="0000FF"/>
                </a:solidFill>
              </a:rPr>
              <a:t>(10); // strike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(4);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(16, 0);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(24);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7F7D5C-0324-D976-62DA-CA4108293C6F}"/>
              </a:ext>
            </a:extLst>
          </p:cNvPr>
          <p:cNvSpPr txBox="1"/>
          <p:nvPr/>
        </p:nvSpPr>
        <p:spPr>
          <a:xfrm>
            <a:off x="3131507" y="86473"/>
            <a:ext cx="6793644" cy="6740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// …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rgbClr val="0000FF"/>
                </a:solidFill>
              </a:rPr>
              <a:t>isStrike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) {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    return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] == 10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get score()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let score = 0;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for (let frame = 0; frame &lt; 10; frame++)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if (</a:t>
            </a:r>
            <a:r>
              <a:rPr lang="en-GB" sz="1600" dirty="0" err="1">
                <a:solidFill>
                  <a:schemeClr val="tx1"/>
                </a:solidFill>
              </a:rPr>
              <a:t>this.isStrike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1;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 else if (</a:t>
            </a:r>
            <a:r>
              <a:rPr lang="en-GB" sz="1600" dirty="0" err="1">
                <a:solidFill>
                  <a:schemeClr val="tx1"/>
                </a:solidFill>
              </a:rPr>
              <a:t>this.isSpare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 else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}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return score;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3434F3-64E2-2784-B702-A769F3AA04BF}"/>
              </a:ext>
            </a:extLst>
          </p:cNvPr>
          <p:cNvSpPr txBox="1"/>
          <p:nvPr/>
        </p:nvSpPr>
        <p:spPr>
          <a:xfrm>
            <a:off x="1658454" y="2217460"/>
            <a:ext cx="4600585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npm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bowlinggamekata@1.0.0 test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vitest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Started</a:t>
            </a:r>
          </a:p>
          <a:p>
            <a:pPr>
              <a:buNone/>
            </a:pPr>
            <a:r>
              <a:rPr lang="en-GB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....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specs, 0 failures</a:t>
            </a:r>
            <a:endParaRPr lang="en-GB" sz="1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8982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237506" y="186905"/>
            <a:ext cx="8913681" cy="486890"/>
          </a:xfrm>
        </p:spPr>
        <p:txBody>
          <a:bodyPr/>
          <a:lstStyle/>
          <a:p>
            <a:r>
              <a:rPr lang="en-US" dirty="0"/>
              <a:t>The Fourth Test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C8DE75-8027-87B6-460E-E1165C582423}"/>
              </a:ext>
            </a:extLst>
          </p:cNvPr>
          <p:cNvSpPr txBox="1"/>
          <p:nvPr/>
        </p:nvSpPr>
        <p:spPr>
          <a:xfrm>
            <a:off x="150970" y="692696"/>
            <a:ext cx="6231775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it('game with a strike in first frame and zeros should score 24',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rgbClr val="0000FF"/>
                </a:solidFill>
              </a:rPr>
              <a:t>game.roll</a:t>
            </a:r>
            <a:r>
              <a:rPr lang="en-GB" sz="1600" dirty="0">
                <a:solidFill>
                  <a:srgbClr val="0000FF"/>
                </a:solidFill>
              </a:rPr>
              <a:t>(10); // strike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(4);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(16, 0);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(24);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6B65B7-47F6-80CB-CB53-B0C414CFFE9D}"/>
              </a:ext>
            </a:extLst>
          </p:cNvPr>
          <p:cNvSpPr txBox="1"/>
          <p:nvPr/>
        </p:nvSpPr>
        <p:spPr>
          <a:xfrm>
            <a:off x="3131507" y="86473"/>
            <a:ext cx="6793644" cy="6740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// …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rgbClr val="0000FF"/>
                </a:solidFill>
              </a:rPr>
              <a:t>isStrike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) {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    return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] == 10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get score()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let score = 0;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for (let frame = 0; frame &lt; 10; frame++)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if (</a:t>
            </a:r>
            <a:r>
              <a:rPr lang="en-GB" sz="1600" dirty="0" err="1">
                <a:solidFill>
                  <a:schemeClr val="tx1"/>
                </a:solidFill>
              </a:rPr>
              <a:t>this.isStrike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>
                <a:solidFill>
                  <a:srgbClr val="0000FF"/>
                </a:solidFill>
              </a:rPr>
              <a:t>score += 10 +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 + 1] +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 + 2];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1;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 else if (</a:t>
            </a:r>
            <a:r>
              <a:rPr lang="en-GB" sz="1600" dirty="0" err="1">
                <a:solidFill>
                  <a:schemeClr val="tx1"/>
                </a:solidFill>
              </a:rPr>
              <a:t>this.isSpare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>
                <a:solidFill>
                  <a:srgbClr val="0000FF"/>
                </a:solidFill>
              </a:rPr>
              <a:t>score += 10 +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 + 2];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 else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>
                <a:solidFill>
                  <a:srgbClr val="0000FF"/>
                </a:solidFill>
              </a:rPr>
              <a:t>score +=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] +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 + 1];</a:t>
            </a:r>
            <a:br>
              <a:rPr lang="en-GB" sz="1600" dirty="0">
                <a:solidFill>
                  <a:srgbClr val="0000FF"/>
                </a:solidFill>
              </a:rPr>
            </a:br>
            <a:r>
              <a:rPr lang="en-GB" sz="1600" dirty="0">
                <a:solidFill>
                  <a:srgbClr val="0000FF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}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return score;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}}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5181600" y="1295400"/>
            <a:ext cx="403860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public class Game {</a:t>
            </a:r>
          </a:p>
          <a:p>
            <a:r>
              <a:rPr lang="en-US" sz="900"/>
              <a:t>  public void roll(int pins) {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int score() {</a:t>
            </a:r>
          </a:p>
          <a:p>
            <a:r>
              <a:rPr lang="en-US" sz="900"/>
              <a:t>    return 0;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  <a:p>
            <a:endParaRPr lang="en-US" sz="9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6FFA52-41E0-E947-AD24-90692F88C711}"/>
              </a:ext>
            </a:extLst>
          </p:cNvPr>
          <p:cNvSpPr txBox="1"/>
          <p:nvPr/>
        </p:nvSpPr>
        <p:spPr>
          <a:xfrm>
            <a:off x="243103" y="4436433"/>
            <a:ext cx="3331101" cy="64633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</a:rPr>
              <a:t>Not obvious why these scores are they way they are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0E440-DC0E-6A49-A2AB-056F3AD81D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DF815B-3B4B-F648-8A3C-52FC6A4294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BB584A-6725-9C4C-B74F-83D34116E5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0136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Fourth Test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A394EB-D02D-BD41-A8BA-532A84C693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E4AE4D-1518-0144-9752-817C62FFC7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F9F40-E4F2-EE41-B71E-CDD4FDBF95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56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4EBFC7-F007-FF99-67BE-131BDC65CD0C}"/>
              </a:ext>
            </a:extLst>
          </p:cNvPr>
          <p:cNvSpPr txBox="1"/>
          <p:nvPr/>
        </p:nvSpPr>
        <p:spPr>
          <a:xfrm>
            <a:off x="150970" y="692696"/>
            <a:ext cx="6231775" cy="30469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GB" sz="1600" dirty="0">
              <a:solidFill>
                <a:srgbClr val="0000FF"/>
              </a:solidFill>
            </a:endParaRPr>
          </a:p>
          <a:p>
            <a:r>
              <a:rPr lang="en-GB" sz="1600" b="1" dirty="0">
                <a:solidFill>
                  <a:schemeClr val="tx1"/>
                </a:solidFill>
              </a:rPr>
              <a:t>// …</a:t>
            </a:r>
            <a:endParaRPr lang="en-GB" sz="1600" dirty="0">
              <a:solidFill>
                <a:schemeClr val="tx1"/>
              </a:solidFill>
            </a:endParaRPr>
          </a:p>
          <a:p>
            <a:endParaRPr lang="en-GB" sz="1600" dirty="0">
              <a:solidFill>
                <a:schemeClr val="tx1"/>
              </a:solidFill>
            </a:endParaRP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it(‘Game with a strike in first frame, zeros should score 24',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rgbClr val="0000FF"/>
                </a:solidFill>
              </a:rPr>
              <a:t>game.roll</a:t>
            </a:r>
            <a:r>
              <a:rPr lang="en-GB" sz="1600" dirty="0">
                <a:solidFill>
                  <a:srgbClr val="0000FF"/>
                </a:solidFill>
              </a:rPr>
              <a:t>(10); // Strike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 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(4);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(16, 0)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toEqual</a:t>
            </a:r>
            <a:r>
              <a:rPr lang="en-GB" sz="1600" dirty="0">
                <a:solidFill>
                  <a:schemeClr val="tx1"/>
                </a:solidFill>
              </a:rPr>
              <a:t>(24);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})</a:t>
            </a:r>
          </a:p>
          <a:p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F5FC11-DB91-D951-4A40-4AF0033E7FE9}"/>
              </a:ext>
            </a:extLst>
          </p:cNvPr>
          <p:cNvSpPr txBox="1"/>
          <p:nvPr/>
        </p:nvSpPr>
        <p:spPr>
          <a:xfrm>
            <a:off x="3131507" y="86473"/>
            <a:ext cx="6793644" cy="72327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// …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strikeBonus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</a:t>
            </a:r>
            <a:r>
              <a:rPr lang="en-GB" sz="1600" b="1" dirty="0">
                <a:solidFill>
                  <a:schemeClr val="tx1"/>
                </a:solidFill>
              </a:rPr>
              <a:t>return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[frameIndex+1]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[frameIndex+2];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spareBonus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</a:t>
            </a:r>
            <a:r>
              <a:rPr lang="en-GB" sz="1600" b="1" dirty="0">
                <a:solidFill>
                  <a:schemeClr val="tx1"/>
                </a:solidFill>
              </a:rPr>
              <a:t>return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sumOfBallsInFrame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</a:t>
            </a:r>
            <a:r>
              <a:rPr lang="en-GB" sz="1600" b="1" dirty="0">
                <a:solidFill>
                  <a:schemeClr val="tx1"/>
                </a:solidFill>
              </a:rPr>
              <a:t>return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score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for(let frame=0; frame &lt; 10;frame++)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if (</a:t>
            </a:r>
            <a:r>
              <a:rPr lang="en-GB" sz="1600" dirty="0" err="1">
                <a:solidFill>
                  <a:schemeClr val="tx1"/>
                </a:solidFill>
              </a:rPr>
              <a:t>this.isStrike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            </a:t>
            </a:r>
            <a:r>
              <a:rPr lang="en-GB" sz="1600" dirty="0">
                <a:solidFill>
                  <a:srgbClr val="0000FF"/>
                </a:solidFill>
              </a:rPr>
              <a:t>score = score + 10 + </a:t>
            </a:r>
            <a:r>
              <a:rPr lang="en-GB" sz="1600" dirty="0" err="1">
                <a:solidFill>
                  <a:srgbClr val="0000FF"/>
                </a:solidFill>
              </a:rPr>
              <a:t>this.strikeBonus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++;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} else if (</a:t>
            </a:r>
            <a:r>
              <a:rPr lang="en-GB" sz="1600" dirty="0" err="1">
                <a:solidFill>
                  <a:schemeClr val="tx1"/>
                </a:solidFill>
              </a:rPr>
              <a:t>this.isSpare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</a:t>
            </a:r>
            <a:r>
              <a:rPr lang="en-GB" sz="1600" dirty="0">
                <a:solidFill>
                  <a:srgbClr val="0000FF"/>
                </a:solidFill>
              </a:rPr>
              <a:t>score += 10 + </a:t>
            </a:r>
            <a:r>
              <a:rPr lang="en-GB" sz="1600" dirty="0" err="1">
                <a:solidFill>
                  <a:srgbClr val="0000FF"/>
                </a:solidFill>
              </a:rPr>
              <a:t>this.spareBonus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</a:t>
            </a:r>
            <a:r>
              <a:rPr lang="en-GB" sz="1600" dirty="0">
                <a:solidFill>
                  <a:srgbClr val="0000FF"/>
                </a:solidFill>
              </a:rPr>
              <a:t>score += </a:t>
            </a:r>
            <a:r>
              <a:rPr lang="en-GB" sz="1600" dirty="0" err="1">
                <a:solidFill>
                  <a:srgbClr val="0000FF"/>
                </a:solidFill>
              </a:rPr>
              <a:t>this.sumOfBallsInFrame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score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555415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Fourth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9E795D-E72D-594F-97A5-039A9F541CFD}"/>
              </a:ext>
            </a:extLst>
          </p:cNvPr>
          <p:cNvSpPr txBox="1"/>
          <p:nvPr/>
        </p:nvSpPr>
        <p:spPr>
          <a:xfrm>
            <a:off x="3131507" y="86473"/>
            <a:ext cx="6793644" cy="72327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// …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strikeBonus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</a:t>
            </a:r>
            <a:r>
              <a:rPr lang="en-GB" sz="1600" b="1" dirty="0">
                <a:solidFill>
                  <a:schemeClr val="tx1"/>
                </a:solidFill>
              </a:rPr>
              <a:t>return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[frameIndex+1]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[frameIndex+2];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spareBonus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</a:t>
            </a:r>
            <a:r>
              <a:rPr lang="en-GB" sz="1600" b="1" dirty="0">
                <a:solidFill>
                  <a:schemeClr val="tx1"/>
                </a:solidFill>
              </a:rPr>
              <a:t>return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sumOfBallsInFrame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</a:t>
            </a:r>
            <a:r>
              <a:rPr lang="en-GB" sz="1600" b="1" dirty="0">
                <a:solidFill>
                  <a:schemeClr val="tx1"/>
                </a:solidFill>
              </a:rPr>
              <a:t>return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score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for(let frame=0; frame &lt; 10;frame++)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if (</a:t>
            </a:r>
            <a:r>
              <a:rPr lang="en-GB" sz="1600" dirty="0" err="1">
                <a:solidFill>
                  <a:schemeClr val="tx1"/>
                </a:solidFill>
              </a:rPr>
              <a:t>this.isStrike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            </a:t>
            </a:r>
            <a:r>
              <a:rPr lang="en-GB" sz="1600" dirty="0">
                <a:solidFill>
                  <a:srgbClr val="0000FF"/>
                </a:solidFill>
              </a:rPr>
              <a:t>score = score + 10 + </a:t>
            </a:r>
            <a:r>
              <a:rPr lang="en-GB" sz="1600" dirty="0" err="1">
                <a:solidFill>
                  <a:srgbClr val="0000FF"/>
                </a:solidFill>
              </a:rPr>
              <a:t>this.strikeBonus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++;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} else if (</a:t>
            </a:r>
            <a:r>
              <a:rPr lang="en-GB" sz="1600" dirty="0" err="1">
                <a:solidFill>
                  <a:schemeClr val="tx1"/>
                </a:solidFill>
              </a:rPr>
              <a:t>this.isSpare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</a:t>
            </a:r>
            <a:r>
              <a:rPr lang="en-GB" sz="1600" dirty="0">
                <a:solidFill>
                  <a:srgbClr val="0000FF"/>
                </a:solidFill>
              </a:rPr>
              <a:t>score += 10 + </a:t>
            </a:r>
            <a:r>
              <a:rPr lang="en-GB" sz="1600" dirty="0" err="1">
                <a:solidFill>
                  <a:srgbClr val="0000FF"/>
                </a:solidFill>
              </a:rPr>
              <a:t>this.spareBonus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</a:t>
            </a:r>
            <a:r>
              <a:rPr lang="en-GB" sz="1600" dirty="0">
                <a:solidFill>
                  <a:srgbClr val="0000FF"/>
                </a:solidFill>
              </a:rPr>
              <a:t>score += </a:t>
            </a:r>
            <a:r>
              <a:rPr lang="en-GB" sz="1600" dirty="0" err="1">
                <a:solidFill>
                  <a:srgbClr val="0000FF"/>
                </a:solidFill>
              </a:rPr>
              <a:t>this.sumOfBallsInFrame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score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5181600" y="1295400"/>
            <a:ext cx="403860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public class Game {</a:t>
            </a:r>
          </a:p>
          <a:p>
            <a:r>
              <a:rPr lang="en-US" sz="900"/>
              <a:t>  public void roll(int pins) {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int score() {</a:t>
            </a:r>
          </a:p>
          <a:p>
            <a:r>
              <a:rPr lang="en-US" sz="900"/>
              <a:t>    return 0;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  <a:p>
            <a:endParaRPr lang="en-US" sz="9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1867A2-802E-FF4D-9A9E-E1149D07E6DF}"/>
              </a:ext>
            </a:extLst>
          </p:cNvPr>
          <p:cNvSpPr txBox="1"/>
          <p:nvPr/>
        </p:nvSpPr>
        <p:spPr>
          <a:xfrm>
            <a:off x="201079" y="4581128"/>
            <a:ext cx="2880320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</a:rPr>
              <a:t>Can do better here as well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82EB26-397B-A44C-8F25-249ED16AD02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6414BC-5A26-8A4E-99B6-64C61BF7204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D0639-33DF-574F-8349-D0E9BEF266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57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A97B30-0BCB-33AE-20B0-90AC1F0D134A}"/>
              </a:ext>
            </a:extLst>
          </p:cNvPr>
          <p:cNvSpPr txBox="1"/>
          <p:nvPr/>
        </p:nvSpPr>
        <p:spPr>
          <a:xfrm>
            <a:off x="150970" y="692696"/>
            <a:ext cx="6231775" cy="30469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GB" sz="1600" dirty="0">
              <a:solidFill>
                <a:srgbClr val="0000FF"/>
              </a:solidFill>
            </a:endParaRPr>
          </a:p>
          <a:p>
            <a:r>
              <a:rPr lang="en-GB" sz="1600" b="1" dirty="0">
                <a:solidFill>
                  <a:schemeClr val="tx1"/>
                </a:solidFill>
              </a:rPr>
              <a:t>// …</a:t>
            </a:r>
            <a:endParaRPr lang="en-GB" sz="1600" dirty="0">
              <a:solidFill>
                <a:schemeClr val="tx1"/>
              </a:solidFill>
            </a:endParaRPr>
          </a:p>
          <a:p>
            <a:endParaRPr lang="en-GB" sz="1600" dirty="0">
              <a:solidFill>
                <a:schemeClr val="tx1"/>
              </a:solidFill>
            </a:endParaRP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it(‘Game with a strike in first frame, zeros should score 24',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rgbClr val="C00000"/>
                </a:solidFill>
              </a:rPr>
              <a:t>game.roll</a:t>
            </a:r>
            <a:r>
              <a:rPr lang="en-GB" sz="1600" dirty="0">
                <a:solidFill>
                  <a:srgbClr val="C00000"/>
                </a:solidFill>
              </a:rPr>
              <a:t>(10); // Strike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 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(4);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(16, 0)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toEqual</a:t>
            </a:r>
            <a:r>
              <a:rPr lang="en-GB" sz="1600" dirty="0">
                <a:solidFill>
                  <a:schemeClr val="tx1"/>
                </a:solidFill>
              </a:rPr>
              <a:t>(24);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})</a:t>
            </a:r>
          </a:p>
          <a:p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18709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24151" y="160810"/>
            <a:ext cx="8913681" cy="486890"/>
          </a:xfrm>
        </p:spPr>
        <p:txBody>
          <a:bodyPr/>
          <a:lstStyle/>
          <a:p>
            <a:r>
              <a:rPr lang="en-US" dirty="0"/>
              <a:t>The Fourth Test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5181600" y="1295400"/>
            <a:ext cx="403860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public class Game {</a:t>
            </a:r>
          </a:p>
          <a:p>
            <a:r>
              <a:rPr lang="en-US" sz="900"/>
              <a:t>  public void roll(int pins) {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int score() {</a:t>
            </a:r>
          </a:p>
          <a:p>
            <a:r>
              <a:rPr lang="en-US" sz="900"/>
              <a:t>    return 0;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  <a:p>
            <a:endParaRPr lang="en-US" sz="9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BF9B5B-6A74-2F4C-918B-5ECBD977409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EE4987-D5F4-CA47-9786-E4A2D9B11D1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9C3DC-A68C-DB4A-A01B-A7770F63D9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58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8417B0-E823-50A1-BF2D-14EFE5E7EED7}"/>
              </a:ext>
            </a:extLst>
          </p:cNvPr>
          <p:cNvSpPr txBox="1"/>
          <p:nvPr/>
        </p:nvSpPr>
        <p:spPr>
          <a:xfrm>
            <a:off x="3131507" y="86473"/>
            <a:ext cx="6793644" cy="72327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// …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strikeBonus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</a:t>
            </a:r>
            <a:r>
              <a:rPr lang="en-GB" sz="1600" b="1" dirty="0">
                <a:solidFill>
                  <a:schemeClr val="tx1"/>
                </a:solidFill>
              </a:rPr>
              <a:t>return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[frameIndex+1]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[frameIndex+2];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spareBonus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</a:t>
            </a:r>
            <a:r>
              <a:rPr lang="en-GB" sz="1600" b="1" dirty="0">
                <a:solidFill>
                  <a:schemeClr val="tx1"/>
                </a:solidFill>
              </a:rPr>
              <a:t>return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sumOfBallsInFrame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</a:t>
            </a:r>
            <a:r>
              <a:rPr lang="en-GB" sz="1600" b="1" dirty="0">
                <a:solidFill>
                  <a:schemeClr val="tx1"/>
                </a:solidFill>
              </a:rPr>
              <a:t>return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score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for(let frame=0; frame &lt; 10;frame++)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if (</a:t>
            </a:r>
            <a:r>
              <a:rPr lang="en-GB" sz="1600" dirty="0" err="1">
                <a:solidFill>
                  <a:schemeClr val="tx1"/>
                </a:solidFill>
              </a:rPr>
              <a:t>this.isStrike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            </a:t>
            </a:r>
            <a:r>
              <a:rPr lang="en-GB" sz="1600" dirty="0">
                <a:solidFill>
                  <a:srgbClr val="0000FF"/>
                </a:solidFill>
              </a:rPr>
              <a:t>score = score + 10 + </a:t>
            </a:r>
            <a:r>
              <a:rPr lang="en-GB" sz="1600" dirty="0" err="1">
                <a:solidFill>
                  <a:srgbClr val="0000FF"/>
                </a:solidFill>
              </a:rPr>
              <a:t>this.strikeBonus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++;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} else if (</a:t>
            </a:r>
            <a:r>
              <a:rPr lang="en-GB" sz="1600" dirty="0" err="1">
                <a:solidFill>
                  <a:schemeClr val="tx1"/>
                </a:solidFill>
              </a:rPr>
              <a:t>this.isSpare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</a:t>
            </a:r>
            <a:r>
              <a:rPr lang="en-GB" sz="1600" dirty="0">
                <a:solidFill>
                  <a:srgbClr val="0000FF"/>
                </a:solidFill>
              </a:rPr>
              <a:t>score += 10 + </a:t>
            </a:r>
            <a:r>
              <a:rPr lang="en-GB" sz="1600" dirty="0" err="1">
                <a:solidFill>
                  <a:srgbClr val="0000FF"/>
                </a:solidFill>
              </a:rPr>
              <a:t>this.spareBonus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</a:t>
            </a:r>
            <a:r>
              <a:rPr lang="en-GB" sz="1600" dirty="0">
                <a:solidFill>
                  <a:srgbClr val="0000FF"/>
                </a:solidFill>
              </a:rPr>
              <a:t>score += </a:t>
            </a:r>
            <a:r>
              <a:rPr lang="en-GB" sz="1600" dirty="0" err="1">
                <a:solidFill>
                  <a:srgbClr val="0000FF"/>
                </a:solidFill>
              </a:rPr>
              <a:t>this.sumOfBallsInFrame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score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636089-0ABD-5B08-45D2-13E118FE3D48}"/>
              </a:ext>
            </a:extLst>
          </p:cNvPr>
          <p:cNvSpPr txBox="1"/>
          <p:nvPr/>
        </p:nvSpPr>
        <p:spPr>
          <a:xfrm>
            <a:off x="150970" y="692696"/>
            <a:ext cx="6231775" cy="4031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GB" sz="1600" dirty="0">
              <a:solidFill>
                <a:srgbClr val="0000FF"/>
              </a:solidFill>
            </a:endParaRPr>
          </a:p>
          <a:p>
            <a:r>
              <a:rPr lang="en-GB" sz="1600" b="1" dirty="0">
                <a:solidFill>
                  <a:schemeClr val="tx1"/>
                </a:solidFill>
              </a:rPr>
              <a:t>// …</a:t>
            </a:r>
            <a:endParaRPr lang="en-GB" sz="1600" dirty="0">
              <a:solidFill>
                <a:schemeClr val="tx1"/>
              </a:solidFill>
            </a:endParaRPr>
          </a:p>
          <a:p>
            <a:endParaRPr lang="en-GB" sz="1600" dirty="0">
              <a:solidFill>
                <a:schemeClr val="tx1"/>
              </a:solidFill>
            </a:endParaRP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it(‘Game with a strike in first frame, zeros should score 24',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rgbClr val="0000FF"/>
                </a:solidFill>
              </a:rPr>
              <a:t>rollStrike</a:t>
            </a:r>
            <a:r>
              <a:rPr lang="en-GB" sz="1600" dirty="0">
                <a:solidFill>
                  <a:srgbClr val="0000FF"/>
                </a:solidFill>
              </a:rPr>
              <a:t>();</a:t>
            </a:r>
            <a:endParaRPr lang="en-GB" sz="1600" dirty="0">
              <a:solidFill>
                <a:srgbClr val="C00000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 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(4);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(16, 0)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toEqual</a:t>
            </a:r>
            <a:r>
              <a:rPr lang="en-GB" sz="1600" dirty="0">
                <a:solidFill>
                  <a:schemeClr val="tx1"/>
                </a:solidFill>
              </a:rPr>
              <a:t>(24);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})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b="1" dirty="0">
                <a:solidFill>
                  <a:srgbClr val="0000FF"/>
                </a:solidFill>
              </a:rPr>
              <a:t>function</a:t>
            </a:r>
            <a:r>
              <a:rPr lang="en-GB" sz="1600" dirty="0">
                <a:solidFill>
                  <a:srgbClr val="0000FF"/>
                </a:solidFill>
              </a:rPr>
              <a:t> </a:t>
            </a:r>
            <a:r>
              <a:rPr lang="en-GB" sz="1600" dirty="0" err="1">
                <a:solidFill>
                  <a:srgbClr val="0000FF"/>
                </a:solidFill>
              </a:rPr>
              <a:t>rollStrike</a:t>
            </a:r>
            <a:r>
              <a:rPr lang="en-GB" sz="1600" dirty="0">
                <a:solidFill>
                  <a:srgbClr val="0000FF"/>
                </a:solidFill>
              </a:rPr>
              <a:t>() {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</a:t>
            </a:r>
            <a:r>
              <a:rPr lang="en-GB" sz="1600" dirty="0" err="1">
                <a:solidFill>
                  <a:srgbClr val="0000FF"/>
                </a:solidFill>
              </a:rPr>
              <a:t>game.roll</a:t>
            </a:r>
            <a:r>
              <a:rPr lang="en-GB" sz="1600" dirty="0">
                <a:solidFill>
                  <a:srgbClr val="0000FF"/>
                </a:solidFill>
              </a:rPr>
              <a:t>(10);</a:t>
            </a:r>
          </a:p>
          <a:p>
            <a:r>
              <a:rPr lang="en-GB" sz="1600" dirty="0">
                <a:solidFill>
                  <a:srgbClr val="0000FF"/>
                </a:solidFill>
              </a:rPr>
              <a:t>}</a:t>
            </a:r>
          </a:p>
          <a:p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31091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89363-24FC-5E4F-A889-C05FD6AE9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Fifth Test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CFD34-A53D-7F4D-86B3-4AB30A26BA5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59834-FEE2-6A46-95DB-B324E304168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CD62F-59B6-D849-B50C-745C23923F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59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B70B3F-F8CD-2DC9-F579-891A6F60C9DC}"/>
              </a:ext>
            </a:extLst>
          </p:cNvPr>
          <p:cNvSpPr txBox="1"/>
          <p:nvPr/>
        </p:nvSpPr>
        <p:spPr>
          <a:xfrm>
            <a:off x="1836252" y="2060848"/>
            <a:ext cx="6231775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GB" sz="1600" dirty="0">
              <a:solidFill>
                <a:srgbClr val="0000FF"/>
              </a:solidFill>
            </a:endParaRPr>
          </a:p>
          <a:p>
            <a:r>
              <a:rPr lang="en-GB" sz="1600" b="1" dirty="0">
                <a:solidFill>
                  <a:schemeClr val="tx1"/>
                </a:solidFill>
              </a:rPr>
              <a:t>// …</a:t>
            </a:r>
            <a:endParaRPr lang="en-GB" sz="1600" dirty="0">
              <a:solidFill>
                <a:schemeClr val="tx1"/>
              </a:solidFill>
            </a:endParaRPr>
          </a:p>
          <a:p>
            <a:endParaRPr lang="en-GB" sz="1600" dirty="0">
              <a:solidFill>
                <a:schemeClr val="tx1"/>
              </a:solidFill>
            </a:endParaRPr>
          </a:p>
          <a:p>
            <a:br>
              <a:rPr lang="en-GB" sz="1600" dirty="0">
                <a:solidFill>
                  <a:srgbClr val="0000FF"/>
                </a:solidFill>
              </a:rPr>
            </a:br>
            <a:r>
              <a:rPr lang="en-GB" sz="1600" dirty="0">
                <a:solidFill>
                  <a:srgbClr val="0000FF"/>
                </a:solidFill>
              </a:rPr>
              <a:t>it('A perfect game has 12 strikes - should equal 300', () =&gt; {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</a:t>
            </a:r>
            <a:r>
              <a:rPr lang="en-GB" sz="1600" dirty="0" err="1">
                <a:solidFill>
                  <a:srgbClr val="0000FF"/>
                </a:solidFill>
              </a:rPr>
              <a:t>rollMany</a:t>
            </a:r>
            <a:r>
              <a:rPr lang="en-GB" sz="1600" dirty="0">
                <a:solidFill>
                  <a:srgbClr val="0000FF"/>
                </a:solidFill>
              </a:rPr>
              <a:t>(12, 10)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expect(</a:t>
            </a:r>
            <a:r>
              <a:rPr lang="en-GB" sz="1600" dirty="0" err="1">
                <a:solidFill>
                  <a:srgbClr val="0000FF"/>
                </a:solidFill>
              </a:rPr>
              <a:t>game.score</a:t>
            </a:r>
            <a:r>
              <a:rPr lang="en-GB" sz="1600" dirty="0">
                <a:solidFill>
                  <a:srgbClr val="0000FF"/>
                </a:solidFill>
              </a:rPr>
              <a:t>).</a:t>
            </a:r>
            <a:r>
              <a:rPr lang="en-GB" sz="1600" dirty="0" err="1">
                <a:solidFill>
                  <a:srgbClr val="0000FF"/>
                </a:solidFill>
              </a:rPr>
              <a:t>toEqual</a:t>
            </a:r>
            <a:r>
              <a:rPr lang="en-GB" sz="1600" dirty="0">
                <a:solidFill>
                  <a:srgbClr val="0000FF"/>
                </a:solidFill>
              </a:rPr>
              <a:t>(300);</a:t>
            </a:r>
          </a:p>
          <a:p>
            <a:r>
              <a:rPr lang="en-GB" sz="1600" dirty="0">
                <a:solidFill>
                  <a:srgbClr val="0000FF"/>
                </a:solidFill>
              </a:rPr>
              <a:t>})</a:t>
            </a:r>
          </a:p>
          <a:p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2774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89363-24FC-5E4F-A889-C05FD6AE9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Fifth Test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CFD34-A53D-7F4D-86B3-4AB30A26BA5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59834-FEE2-6A46-95DB-B324E304168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CD62F-59B6-D849-B50C-745C23923F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60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C6CFEB-39B1-0203-65E5-34305D2349F4}"/>
              </a:ext>
            </a:extLst>
          </p:cNvPr>
          <p:cNvSpPr txBox="1"/>
          <p:nvPr/>
        </p:nvSpPr>
        <p:spPr>
          <a:xfrm>
            <a:off x="1836252" y="2060848"/>
            <a:ext cx="6231775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GB" sz="1600" dirty="0">
              <a:solidFill>
                <a:srgbClr val="0000FF"/>
              </a:solidFill>
            </a:endParaRPr>
          </a:p>
          <a:p>
            <a:r>
              <a:rPr lang="en-GB" sz="1600" b="1" dirty="0">
                <a:solidFill>
                  <a:schemeClr val="tx1"/>
                </a:solidFill>
              </a:rPr>
              <a:t>// …</a:t>
            </a:r>
            <a:endParaRPr lang="en-GB" sz="1600" dirty="0">
              <a:solidFill>
                <a:schemeClr val="tx1"/>
              </a:solidFill>
            </a:endParaRPr>
          </a:p>
          <a:p>
            <a:endParaRPr lang="en-GB" sz="1600" dirty="0">
              <a:solidFill>
                <a:schemeClr val="tx1"/>
              </a:solidFill>
            </a:endParaRPr>
          </a:p>
          <a:p>
            <a:br>
              <a:rPr lang="en-GB" sz="1600" dirty="0">
                <a:solidFill>
                  <a:srgbClr val="0000FF"/>
                </a:solidFill>
              </a:rPr>
            </a:br>
            <a:r>
              <a:rPr lang="en-GB" sz="1600" dirty="0">
                <a:solidFill>
                  <a:srgbClr val="0000FF"/>
                </a:solidFill>
              </a:rPr>
              <a:t>it('A perfect game has 12 strikes - should equal 300', () =&gt; {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</a:t>
            </a:r>
            <a:r>
              <a:rPr lang="en-GB" sz="1600" dirty="0" err="1">
                <a:solidFill>
                  <a:srgbClr val="0000FF"/>
                </a:solidFill>
              </a:rPr>
              <a:t>rollMany</a:t>
            </a:r>
            <a:r>
              <a:rPr lang="en-GB" sz="1600" dirty="0">
                <a:solidFill>
                  <a:srgbClr val="0000FF"/>
                </a:solidFill>
              </a:rPr>
              <a:t>(12, 10)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expect(</a:t>
            </a:r>
            <a:r>
              <a:rPr lang="en-GB" sz="1600" dirty="0" err="1">
                <a:solidFill>
                  <a:srgbClr val="0000FF"/>
                </a:solidFill>
              </a:rPr>
              <a:t>game.score</a:t>
            </a:r>
            <a:r>
              <a:rPr lang="en-GB" sz="1600" dirty="0">
                <a:solidFill>
                  <a:srgbClr val="0000FF"/>
                </a:solidFill>
              </a:rPr>
              <a:t>).</a:t>
            </a:r>
            <a:r>
              <a:rPr lang="en-GB" sz="1600" dirty="0" err="1">
                <a:solidFill>
                  <a:srgbClr val="0000FF"/>
                </a:solidFill>
              </a:rPr>
              <a:t>toEqual</a:t>
            </a:r>
            <a:r>
              <a:rPr lang="en-GB" sz="1600" dirty="0">
                <a:solidFill>
                  <a:srgbClr val="0000FF"/>
                </a:solidFill>
              </a:rPr>
              <a:t>(300);</a:t>
            </a:r>
          </a:p>
          <a:p>
            <a:r>
              <a:rPr lang="en-GB" sz="1600" dirty="0">
                <a:solidFill>
                  <a:srgbClr val="0000FF"/>
                </a:solidFill>
              </a:rPr>
              <a:t>})</a:t>
            </a:r>
          </a:p>
          <a:p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E0F38F-8181-9543-CDB9-D7C76AAE5330}"/>
              </a:ext>
            </a:extLst>
          </p:cNvPr>
          <p:cNvSpPr txBox="1"/>
          <p:nvPr/>
        </p:nvSpPr>
        <p:spPr>
          <a:xfrm>
            <a:off x="2519700" y="3982917"/>
            <a:ext cx="4600585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npm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bowlinggamekata@1.0.0 test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vitest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Started</a:t>
            </a:r>
          </a:p>
          <a:p>
            <a:pPr>
              <a:buNone/>
            </a:pPr>
            <a:r>
              <a:rPr lang="en-GB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.....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specs, 0 failures</a:t>
            </a:r>
            <a:endParaRPr lang="en-GB" sz="1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762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80BDE-7421-CD4D-A3B3-B51830059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Repo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721BB-5DD0-BC43-8AA7-D2E87EE4E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</a:t>
            </a:r>
          </a:p>
          <a:p>
            <a:pPr lvl="1"/>
            <a:r>
              <a:rPr lang="en-US" dirty="0">
                <a:hlinkClick r:id="rId2"/>
              </a:rPr>
              <a:t>https://github.com/johnehunt/Bowling-ball-kata-JS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For a Java version see</a:t>
            </a:r>
          </a:p>
          <a:p>
            <a:pPr lvl="1"/>
            <a:r>
              <a:rPr lang="en-US" sz="2000" dirty="0">
                <a:hlinkClick r:id="rId3"/>
              </a:rPr>
              <a:t>https://github.com/johnehunt/Bowling-Ball-Kata</a:t>
            </a:r>
            <a:endParaRPr lang="en-US" sz="2000" dirty="0"/>
          </a:p>
          <a:p>
            <a:pPr lvl="1"/>
            <a:endParaRPr lang="en-US" dirty="0"/>
          </a:p>
          <a:p>
            <a:r>
              <a:rPr lang="en-US" dirty="0"/>
              <a:t>Both contain overall solution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318A0-0790-4248-AD2F-3D9F8AD77A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BB7EE-AAAF-474E-8788-0B1991CBC3B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24201-1607-7343-9EF0-6449E4849A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61</a:t>
            </a:fld>
            <a:endParaRPr lang="en-GB"/>
          </a:p>
        </p:txBody>
      </p:sp>
      <p:pic>
        <p:nvPicPr>
          <p:cNvPr id="6146" name="Picture 2" descr="GitHub (@github) / Twitter">
            <a:extLst>
              <a:ext uri="{FF2B5EF4-FFF2-40B4-BE49-F238E27FC236}">
                <a16:creationId xmlns:a16="http://schemas.microsoft.com/office/drawing/2014/main" id="{3F10A200-A9DB-B447-91C6-6E8C4E63D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1916" y="93665"/>
            <a:ext cx="1080120" cy="108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64436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dirty="0"/>
              <a:t>Resources: TDD Kata Examples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95301" y="1700809"/>
            <a:ext cx="8389964" cy="4018359"/>
          </a:xfrm>
          <a:ln/>
        </p:spPr>
        <p:txBody>
          <a:bodyPr anchor="t"/>
          <a:lstStyle/>
          <a:p>
            <a:r>
              <a:rPr lang="en-US" sz="2400" dirty="0"/>
              <a:t>The Bowling Game Kata</a:t>
            </a:r>
          </a:p>
          <a:p>
            <a:pPr lvl="1"/>
            <a:r>
              <a:rPr lang="en-US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http://butunclebob.com/ArticleS.UncleBob.TheBowlingGameKata</a:t>
            </a:r>
            <a:endParaRPr lang="en-US" sz="2000" dirty="0"/>
          </a:p>
          <a:p>
            <a:r>
              <a:rPr lang="en-US" sz="2400" dirty="0"/>
              <a:t>Kata Log</a:t>
            </a:r>
          </a:p>
          <a:p>
            <a:pPr lvl="1"/>
            <a:r>
              <a:rPr lang="en-US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https://kata-log.rocks/tdd</a:t>
            </a:r>
            <a:r>
              <a:rPr lang="en-US" sz="2000" dirty="0"/>
              <a:t> </a:t>
            </a:r>
          </a:p>
          <a:p>
            <a:r>
              <a:rPr lang="en-US" sz="2400" dirty="0"/>
              <a:t>Another Kata Log</a:t>
            </a:r>
          </a:p>
          <a:p>
            <a:pPr lvl="1"/>
            <a:r>
              <a:rPr lang="en-US" sz="20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https://www.programmingwithwolfgang.com/tdd-kata/</a:t>
            </a:r>
            <a:endParaRPr lang="en-US" sz="2000" dirty="0"/>
          </a:p>
          <a:p>
            <a:pPr marL="341313" lvl="1" indent="-341313">
              <a:lnSpc>
                <a:spcPct val="125000"/>
              </a:lnSpc>
              <a:spcBef>
                <a:spcPts val="700"/>
              </a:spcBef>
              <a:buFont typeface="Wingdings" pitchFamily="2" charset="2"/>
              <a:buChar char=""/>
            </a:pPr>
            <a:r>
              <a:rPr lang="en-US" dirty="0"/>
              <a:t>Yet Another Kata Log</a:t>
            </a:r>
          </a:p>
          <a:p>
            <a:pPr lvl="1"/>
            <a:r>
              <a:rPr lang="en-US" sz="2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http://www.tddbuddy.com/</a:t>
            </a:r>
            <a:endParaRPr lang="en-US" sz="2000" dirty="0"/>
          </a:p>
          <a:p>
            <a:pPr lvl="1"/>
            <a:endParaRPr lang="en-US" sz="1600" u="sng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80BB54-5D56-054C-BC7E-67D6ABF6A05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8FD2A8-279F-D244-A10A-18D1D87A8C0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9B837-E73A-7F49-A9EC-4B3F5BD37F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62</a:t>
            </a:fld>
            <a:endParaRPr lang="en-GB"/>
          </a:p>
        </p:txBody>
      </p:sp>
      <p:pic>
        <p:nvPicPr>
          <p:cNvPr id="7" name="Picture 2" descr="Katas of Wado Ryu – Chojinkai Karate">
            <a:extLst>
              <a:ext uri="{FF2B5EF4-FFF2-40B4-BE49-F238E27FC236}">
                <a16:creationId xmlns:a16="http://schemas.microsoft.com/office/drawing/2014/main" id="{4E823539-D874-A54D-A1EF-ACD9AD4B5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976" y="277814"/>
            <a:ext cx="959892" cy="972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8274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CFB7D-E808-5248-9063-F9E3CA732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Resources: Bowling Ball Kata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EA6F1-77C9-994A-99AF-EA1C01C5A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98" y="1340768"/>
            <a:ext cx="8913681" cy="4529138"/>
          </a:xfrm>
        </p:spPr>
        <p:txBody>
          <a:bodyPr/>
          <a:lstStyle/>
          <a:p>
            <a:r>
              <a:rPr lang="en-US" sz="1800" dirty="0"/>
              <a:t>Java</a:t>
            </a:r>
            <a:endParaRPr lang="en-US" sz="2000" dirty="0"/>
          </a:p>
          <a:p>
            <a:pPr lvl="1"/>
            <a:r>
              <a:rPr lang="en-US" sz="1600" dirty="0">
                <a:hlinkClick r:id="rId2"/>
              </a:rPr>
              <a:t>http://www.butunclebob.com/ArticleS.UncleBob.TheBowlingGameKata</a:t>
            </a:r>
            <a:r>
              <a:rPr lang="en-US" sz="1600" dirty="0"/>
              <a:t> </a:t>
            </a:r>
          </a:p>
          <a:p>
            <a:r>
              <a:rPr lang="en-US" sz="1800" dirty="0"/>
              <a:t>JavaScript</a:t>
            </a:r>
            <a:endParaRPr lang="en-US" sz="2000" dirty="0"/>
          </a:p>
          <a:p>
            <a:pPr lvl="1"/>
            <a:r>
              <a:rPr lang="en-US" sz="1200" dirty="0">
                <a:hlinkClick r:id="rId3"/>
              </a:rPr>
              <a:t>https://medium.com/geekculture/solving-the-bowling-game-kata-in-vanilla-javascript-37e25d6d2305</a:t>
            </a:r>
            <a:r>
              <a:rPr lang="en-US" sz="1200" dirty="0"/>
              <a:t> </a:t>
            </a:r>
          </a:p>
          <a:p>
            <a:r>
              <a:rPr lang="en-US" sz="1800" dirty="0"/>
              <a:t>C#</a:t>
            </a:r>
          </a:p>
          <a:p>
            <a:pPr lvl="1"/>
            <a:r>
              <a:rPr lang="en-US" sz="1600" dirty="0">
                <a:hlinkClick r:id="rId4"/>
              </a:rPr>
              <a:t>https://github.com/FranksBrain/BowlingKata</a:t>
            </a:r>
            <a:r>
              <a:rPr lang="en-US" sz="1600" dirty="0"/>
              <a:t> </a:t>
            </a:r>
          </a:p>
          <a:p>
            <a:r>
              <a:rPr lang="en-US" sz="1800" dirty="0"/>
              <a:t>Scala, Clojure and F#</a:t>
            </a:r>
          </a:p>
          <a:p>
            <a:pPr lvl="1"/>
            <a:r>
              <a:rPr lang="en-US" sz="1200" dirty="0">
                <a:hlinkClick r:id="rId5"/>
              </a:rPr>
              <a:t>https://www.codurance.com/publications/2016/05/16/bowling-kata-in-clojure-fsharp-scala</a:t>
            </a:r>
            <a:endParaRPr lang="en-US" sz="1200" dirty="0"/>
          </a:p>
          <a:p>
            <a:r>
              <a:rPr lang="en-US" sz="1800" dirty="0"/>
              <a:t>Swift</a:t>
            </a:r>
          </a:p>
          <a:p>
            <a:pPr lvl="1"/>
            <a:r>
              <a:rPr lang="en-US" sz="1600" dirty="0">
                <a:hlinkClick r:id="rId6"/>
              </a:rPr>
              <a:t>https://github.com/brickghost/Bowling-Ball-Kata-Swift</a:t>
            </a:r>
            <a:r>
              <a:rPr lang="en-US" sz="1600" dirty="0"/>
              <a:t> </a:t>
            </a:r>
          </a:p>
          <a:p>
            <a:r>
              <a:rPr lang="en-US" sz="1800" dirty="0"/>
              <a:t>Kotlin</a:t>
            </a:r>
          </a:p>
          <a:p>
            <a:pPr lvl="1"/>
            <a:r>
              <a:rPr lang="en-US" sz="1600" dirty="0">
                <a:hlinkClick r:id="rId7"/>
              </a:rPr>
              <a:t>https://dzone.com/articles/bowling-kata-in-kotlin-videov</a:t>
            </a:r>
            <a:r>
              <a:rPr lang="en-US" sz="1600" dirty="0"/>
              <a:t> </a:t>
            </a:r>
          </a:p>
          <a:p>
            <a:r>
              <a:rPr lang="en-US" sz="1800" dirty="0"/>
              <a:t>Go</a:t>
            </a:r>
          </a:p>
          <a:p>
            <a:pPr lvl="1">
              <a:spcBef>
                <a:spcPts val="0"/>
              </a:spcBef>
            </a:pPr>
            <a:r>
              <a:rPr lang="en-US" sz="1600" dirty="0">
                <a:hlinkClick r:id="rId8"/>
              </a:rPr>
              <a:t>https://github.com/KatherynRizek/golang-bowling-kata</a:t>
            </a:r>
            <a:endParaRPr lang="en-US" sz="1600" dirty="0"/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FCD4D-6023-A740-835D-5013ED17DC7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8F73F-F86E-0B43-9648-6B839F37B3A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5878B-804B-BE43-BA2C-AD90F82111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63</a:t>
            </a:fld>
            <a:endParaRPr lang="en-GB" dirty="0"/>
          </a:p>
        </p:txBody>
      </p:sp>
      <p:pic>
        <p:nvPicPr>
          <p:cNvPr id="8" name="Picture 2" descr="Katas of Wado Ryu – Chojinkai Karate">
            <a:extLst>
              <a:ext uri="{FF2B5EF4-FFF2-40B4-BE49-F238E27FC236}">
                <a16:creationId xmlns:a16="http://schemas.microsoft.com/office/drawing/2014/main" id="{78F00AA1-10DC-2B43-91EE-4827D2927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976" y="277814"/>
            <a:ext cx="959892" cy="972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179340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B83A-8240-6147-BB3C-4731E5B9A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0C306-97F1-C048-823F-56E72FB60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3900" dirty="0">
                <a:solidFill>
                  <a:srgbClr val="0000FF"/>
                </a:solidFill>
              </a:rPr>
              <a:t>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CD4E9-76D0-6F4A-BAD8-FB63C10E5B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AD678-DDAF-AB49-BFD8-6EA8C593E1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DA270-FC9E-3F42-AD7E-E626A82828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57991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aramond"/>
        <a:ea typeface="Arial Unicode MS"/>
        <a:cs typeface="Arial Unicode MS"/>
      </a:majorFont>
      <a:minorFont>
        <a:latin typeface="Verdana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aramond"/>
        <a:ea typeface="Arial Unicode MS"/>
        <a:cs typeface="Arial Unicode MS"/>
      </a:majorFont>
      <a:minorFont>
        <a:latin typeface="Verdana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2326</TotalTime>
  <Words>11362</Words>
  <Application>Microsoft Macintosh PowerPoint</Application>
  <PresentationFormat>A4 Paper (210x297 mm)</PresentationFormat>
  <Paragraphs>1904</Paragraphs>
  <Slides>64</Slides>
  <Notes>53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2" baseType="lpstr">
      <vt:lpstr>Arial</vt:lpstr>
      <vt:lpstr>Garamond</vt:lpstr>
      <vt:lpstr>Times New Roman</vt:lpstr>
      <vt:lpstr>Verdana</vt:lpstr>
      <vt:lpstr>Wingdings</vt:lpstr>
      <vt:lpstr>Default Design</vt:lpstr>
      <vt:lpstr>1_Default Design</vt:lpstr>
      <vt:lpstr>VISIO</vt:lpstr>
      <vt:lpstr>TDD Kata Bowling Ball Kata (JavaScript Version)</vt:lpstr>
      <vt:lpstr>Plan for Session</vt:lpstr>
      <vt:lpstr>What is a TDD Kata?</vt:lpstr>
      <vt:lpstr>Typical Kata Sequence</vt:lpstr>
      <vt:lpstr>Bowling Game Kata</vt:lpstr>
      <vt:lpstr>Scoring Bowling.</vt:lpstr>
      <vt:lpstr>The Requirement</vt:lpstr>
      <vt:lpstr>A Quick Design Session</vt:lpstr>
      <vt:lpstr>A Quick Design Session</vt:lpstr>
      <vt:lpstr>A Quick Design Session</vt:lpstr>
      <vt:lpstr>A Quick Design Session</vt:lpstr>
      <vt:lpstr>A Quick Design Session</vt:lpstr>
      <vt:lpstr>A Quick Design Session</vt:lpstr>
      <vt:lpstr>Getting Started</vt:lpstr>
      <vt:lpstr>Getting Started</vt:lpstr>
      <vt:lpstr>Getting Started</vt:lpstr>
      <vt:lpstr>Getting Started</vt:lpstr>
      <vt:lpstr>The First Test</vt:lpstr>
      <vt:lpstr>The First test</vt:lpstr>
      <vt:lpstr>The First Test</vt:lpstr>
      <vt:lpstr>The First Test</vt:lpstr>
      <vt:lpstr>The First Test</vt:lpstr>
      <vt:lpstr>The Second Test</vt:lpstr>
      <vt:lpstr>The Second Test</vt:lpstr>
      <vt:lpstr>The Second Test</vt:lpstr>
      <vt:lpstr>The Second Test</vt:lpstr>
      <vt:lpstr>The Second Test</vt:lpstr>
      <vt:lpstr>The Second Test</vt:lpstr>
      <vt:lpstr>The Second Test</vt:lpstr>
      <vt:lpstr>The Second Test</vt:lpstr>
      <vt:lpstr>The Second Test</vt:lpstr>
      <vt:lpstr>The Second Test</vt:lpstr>
      <vt:lpstr>The Third Test</vt:lpstr>
      <vt:lpstr>The Third Test</vt:lpstr>
      <vt:lpstr>The Third Test</vt:lpstr>
      <vt:lpstr>The Third Test</vt:lpstr>
      <vt:lpstr>The Third Test</vt:lpstr>
      <vt:lpstr>The Third Test</vt:lpstr>
      <vt:lpstr>The Third Test</vt:lpstr>
      <vt:lpstr>The Third Test</vt:lpstr>
      <vt:lpstr>The Third Test</vt:lpstr>
      <vt:lpstr>The Third Test</vt:lpstr>
      <vt:lpstr>The Third Test</vt:lpstr>
      <vt:lpstr>The Third Test</vt:lpstr>
      <vt:lpstr>The Third Test</vt:lpstr>
      <vt:lpstr>The Third Test</vt:lpstr>
      <vt:lpstr>The Third Test</vt:lpstr>
      <vt:lpstr>The Third Test</vt:lpstr>
      <vt:lpstr>The Third Test</vt:lpstr>
      <vt:lpstr>The Fourth Test</vt:lpstr>
      <vt:lpstr>The Fourth Test</vt:lpstr>
      <vt:lpstr>The Fourth Test</vt:lpstr>
      <vt:lpstr>The Fourth Test</vt:lpstr>
      <vt:lpstr>The Fourth Test</vt:lpstr>
      <vt:lpstr>The Fourth Test</vt:lpstr>
      <vt:lpstr>The Fourth Test</vt:lpstr>
      <vt:lpstr>The Fourth Test</vt:lpstr>
      <vt:lpstr>The Fourth Test</vt:lpstr>
      <vt:lpstr>The Fifth Test</vt:lpstr>
      <vt:lpstr>The Fifth Test</vt:lpstr>
      <vt:lpstr>GitHub Repo</vt:lpstr>
      <vt:lpstr>Resources: TDD Kata Examples</vt:lpstr>
      <vt:lpstr>Resources: Bowling Ball Kata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jh</dc:creator>
  <cp:lastModifiedBy>Kevin Cunningham</cp:lastModifiedBy>
  <cp:revision>163</cp:revision>
  <cp:lastPrinted>2023-05-15T11:29:17Z</cp:lastPrinted>
  <dcterms:modified xsi:type="dcterms:W3CDTF">2026-03-26T08:58:25Z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e846ac8-2f35-49ff-a0d4-7a2bca5159e6_Enabled">
    <vt:lpwstr>true</vt:lpwstr>
  </property>
  <property fmtid="{D5CDD505-2E9C-101B-9397-08002B2CF9AE}" pid="3" name="MSIP_Label_3e846ac8-2f35-49ff-a0d4-7a2bca5159e6_SetDate">
    <vt:lpwstr>2026-03-26T07:25:22Z</vt:lpwstr>
  </property>
  <property fmtid="{D5CDD505-2E9C-101B-9397-08002B2CF9AE}" pid="4" name="MSIP_Label_3e846ac8-2f35-49ff-a0d4-7a2bca5159e6_Method">
    <vt:lpwstr>Standard</vt:lpwstr>
  </property>
  <property fmtid="{D5CDD505-2E9C-101B-9397-08002B2CF9AE}" pid="5" name="MSIP_Label_3e846ac8-2f35-49ff-a0d4-7a2bca5159e6_Name">
    <vt:lpwstr>Public</vt:lpwstr>
  </property>
  <property fmtid="{D5CDD505-2E9C-101B-9397-08002B2CF9AE}" pid="6" name="MSIP_Label_3e846ac8-2f35-49ff-a0d4-7a2bca5159e6_SiteId">
    <vt:lpwstr>c833c1d6-dac1-4651-a837-b02f69588349</vt:lpwstr>
  </property>
  <property fmtid="{D5CDD505-2E9C-101B-9397-08002B2CF9AE}" pid="7" name="MSIP_Label_3e846ac8-2f35-49ff-a0d4-7a2bca5159e6_ActionId">
    <vt:lpwstr>1a7b5aa1-2030-453e-b584-8fd3cfb158a3</vt:lpwstr>
  </property>
  <property fmtid="{D5CDD505-2E9C-101B-9397-08002B2CF9AE}" pid="8" name="MSIP_Label_3e846ac8-2f35-49ff-a0d4-7a2bca5159e6_ContentBits">
    <vt:lpwstr>0</vt:lpwstr>
  </property>
  <property fmtid="{D5CDD505-2E9C-101B-9397-08002B2CF9AE}" pid="9" name="MSIP_Label_3e846ac8-2f35-49ff-a0d4-7a2bca5159e6_Tag">
    <vt:lpwstr>50, 3, 0, 1</vt:lpwstr>
  </property>
</Properties>
</file>